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8288000" cy="10287000"/>
  <p:notesSz cx="6858000" cy="9144000"/>
  <p:embeddedFontLst>
    <p:embeddedFont>
      <p:font typeface="DM Sans" pitchFamily="2" charset="0"/>
      <p:regular r:id="rId28"/>
    </p:embeddedFont>
    <p:embeddedFont>
      <p:font typeface="Inter Bold" panose="020B0604020202020204" charset="0"/>
      <p:regular r:id="rId29"/>
    </p:embeddedFont>
    <p:embeddedFont>
      <p:font typeface="Inter Heavy" panose="020B0604020202020204" charset="0"/>
      <p:regular r:id="rId30"/>
    </p:embeddedFont>
    <p:embeddedFont>
      <p:font typeface="Inter Ultra-Bold" panose="020B0604020202020204" charset="0"/>
      <p:regular r:id="rId31"/>
    </p:embeddedFont>
    <p:embeddedFont>
      <p:font typeface="Oswald" panose="00000500000000000000" pitchFamily="2" charset="0"/>
      <p:regular r:id="rId32"/>
      <p:bold r:id="rId33"/>
    </p:embeddedFont>
    <p:embeddedFont>
      <p:font typeface="Sukar" panose="020B0604020202020204" charset="0"/>
      <p:regular r:id="rId34"/>
    </p:embeddedFont>
    <p:embeddedFont>
      <p:font typeface="Sukar Bold" panose="020B0604020202020204" charset="0"/>
      <p:regular r:id="rId35"/>
    </p:embeddedFont>
    <p:embeddedFont>
      <p:font typeface="Sukar Heavy" panose="020B0604020202020204" charset="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70116" autoAdjust="0"/>
  </p:normalViewPr>
  <p:slideViewPr>
    <p:cSldViewPr>
      <p:cViewPr varScale="1">
        <p:scale>
          <a:sx n="32" d="100"/>
          <a:sy n="32" d="100"/>
        </p:scale>
        <p:origin x="13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C72D0F-088C-43E0-8072-A4FA6108CDEA}" type="datetimeFigureOut">
              <a:rPr lang="en-ID" smtClean="0"/>
              <a:t>15/07/2026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A96ABB-3B96-4C53-8E1D-ABEB1403DF1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986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Assalamualaikum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Warahmatullahi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Wabarakatuh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Selamat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siang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Bapak dan Ibu Dewan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Penguji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hormati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Perkenalkan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nama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Sigit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Sadida, NIM 2257201073,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mahasiswa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Program Studi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Fakultas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Ilmu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Komputer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Universitas Lancang Kuning. Pada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kesempatan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mempresentasikan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laporan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Praktek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Kerja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Lapangan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berjudul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ID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Perancangan</a:t>
            </a:r>
            <a:r>
              <a:rPr lang="en-ID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Website Company Profile </a:t>
            </a:r>
            <a:r>
              <a:rPr lang="en-ID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Menggunakan</a:t>
            </a:r>
            <a:r>
              <a:rPr lang="en-ID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Next.js dan Firebase Pada TAO MANULLANG &amp; Partners Law Firm**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Adapun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dosen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pembimbing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Ibu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Wirdah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Choiriah,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M.Kom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96ABB-3B96-4C53-8E1D-ABEB1403DF12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90812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Latar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belakang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penelitian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bermula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kondisi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TAO MANULLANG &amp; Partners Law Firm,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hukum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berdiri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sejak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2021 di Jakarta Selatan.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belum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memiliki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website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resmi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Penyampaian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calon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klien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masih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manual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menggunakan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brosur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PDF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dikirim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via email.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Publikasi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kegiatan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hukum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juga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melalui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Instagram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tidak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ramah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mesin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pencari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sehingga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jangkauannya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terbatas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Staf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administrasi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belum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memiliki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panel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pengelola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konten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memperbarui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secara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mandiri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96ABB-3B96-4C53-8E1D-ABEB1403DF12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25921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Berdasarkan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latar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belakang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tersebut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rumusan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masalahnya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dua.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Pertama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bagaimana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merancang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website company profile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informatif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menggunakan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framework Next.js.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Kedua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bagaimana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mendesain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antarmuka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website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beserta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panel admin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pengelola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berita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mudah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dioperasikan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oleh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staf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internal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tanpa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keahlian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pemrograman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96ABB-3B96-4C53-8E1D-ABEB1403DF12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84860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Tujuan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pertama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merancang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website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mampu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merepresentasikan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secara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digital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profesional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Tujuan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kedua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merancang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panel admin CMS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memudahkan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staf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dalam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mengelola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berita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hukum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secara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mandiri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tanpa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memerlukan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bantuan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developer.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96ABB-3B96-4C53-8E1D-ABEB1403DF12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55120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Manfaat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penelitian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mencakup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tiga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pihak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Bagi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penulis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memberikan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pengalaman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praktis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menggunakan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teknologi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Next.js dan Firebase. Bagi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pembaca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menjadi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akademis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pengembangan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website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framework modern.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bagi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instansi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membantu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memperluas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jangkauan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klien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secara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digital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menyediakan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wadah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publikasi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berita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hukum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terstruktur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96ABB-3B96-4C53-8E1D-ABEB1403DF12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4531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Kegiatan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PKL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dilaksanakan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langsung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kantor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TAO MANULLANG &amp; Partners Law Firm,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berlokasi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Gedung The Habibie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Center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Lantai 1, Kemang, Jakarta Selatan. Waktu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pelaksanaan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selama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tiga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bulan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dimulai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pada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bulan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April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hingga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Bulan Juni 2026."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96ABB-3B96-4C53-8E1D-ABEB1403DF12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245877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Berikut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diagram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tahapan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penelitian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lakukan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Dimulai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tahap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perencanaan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yaitu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menentukan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rumusan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tujuan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kemudian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tahap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pengumpulan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melalui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wawancara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pustaka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hingga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tahap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perancangan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meliputi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perancangan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menggunakan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diagram UML,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perancangan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database,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perancangan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tampilan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antarmuka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96ABB-3B96-4C53-8E1D-ABEB1403DF12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815666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Metode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gunakan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Prototyping. Metode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bersifat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iteratif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berulang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di mana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pengembang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membuat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terlebih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dahulu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kemudian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dievaluasi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bersama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pengguna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Saya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memilih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metode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karena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sangat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cocok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proyek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website company profile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memerlukan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keselarasan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desain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visual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berdasarkan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umpan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balik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langsung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pimpinan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Tahapannya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meliputi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identifikasi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kebutuhan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membangun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prototipe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bersama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pihak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mendapat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masukan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lalu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penyempurnaan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hingga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96ABB-3B96-4C53-8E1D-ABEB1403DF12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557598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sedang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berjalan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alurnya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masih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bersifat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konvensional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Calon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klien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harus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menghubungi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staf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meminta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kemudian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staf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mengirimkan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brosur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PDF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secara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manual via email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WhatsApp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Setiap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kali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perubahan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seperti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penambahan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pengacara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baru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dokumen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harus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diedit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ulang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didistribusikan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kembali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Selain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publikasi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kegiatan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hukum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tersebar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Instagram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tanpa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resmi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terstruktur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ramah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mesin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pencari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96ABB-3B96-4C53-8E1D-ABEB1403DF12}" type="slidenum">
              <a:rPr lang="en-ID" smtClean="0"/>
              <a:t>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72402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Pada Use Case Diagram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usulkan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terdapat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aktor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utama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Pertama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Pengunjung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dapat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mengakses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halaman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utama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melihat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melihat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pengacara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melihat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praktik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membaca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berita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hukum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melihat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detail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berita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mengirim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pesan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konsultasi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melalui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formulir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kontak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Kedua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Admin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dilindungi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oleh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autentikasi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Firebase. Admin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dapat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melakukan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login,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mengakses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dashboard,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mengelola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berita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secara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lengkap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meliputi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tambah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edit, dan hapus.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96ABB-3B96-4C53-8E1D-ABEB1403DF12}" type="slidenum">
              <a:rPr lang="en-ID" smtClean="0"/>
              <a:t>10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55757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 slide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terdapat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dua Activity Diagram.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pertama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Activity Diagram Login Admin. Admin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mengakses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halaman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login,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memasukkan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email dan password,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lalu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memverifikasi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melalui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Firebase Authentication. Jika valid, admin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diarahkan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dashboard. Jika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tidak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valid,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muncul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pesan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error dan admin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bisa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mencoba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lagi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kedua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Activity Diagram Kelola Berita. Admin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dapat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menambah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berita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melalui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formulir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editor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teks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mengedit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berita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sudah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menghapus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berita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setelah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konfirmasi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Semua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langsung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tersimpan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Cloud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Firestore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96ABB-3B96-4C53-8E1D-ABEB1403DF12}" type="slidenum">
              <a:rPr lang="en-ID" smtClean="0"/>
              <a:t>11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54825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memuat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dua Activity Diagram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lagi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pertama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Activity Diagram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Mengakses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Berita.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Pengunjung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melihat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daftar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berita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terbaru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halaman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utama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lalu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mengklik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salah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berita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melihat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lengkapnya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halaman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detail.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kedua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Activity Diagram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Mengirim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Pesan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Kontak.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Pengunjung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mengisi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nama, email,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pesan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pada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formulir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tersedia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Setelah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menekan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tombol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kirim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memvalidasi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kelengkapan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Jika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semua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terisi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pesan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dikirimkan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email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Jika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kosong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menampilkan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peringatan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96ABB-3B96-4C53-8E1D-ABEB1403DF12}" type="slidenum">
              <a:rPr lang="en-ID" smtClean="0"/>
              <a:t>12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310425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 Diagram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menggambarkan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kelas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utama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dalam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beserta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atribut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metodenya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Kelas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NewsItem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menyimpan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berita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meliputi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judul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tanggal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kategori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ringkasan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konten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dalam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format HTML,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gambar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Kelas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Lawyer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menyimpan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pengacara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meliputi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nama,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jabatan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biografi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dan daftar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keahlian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hukum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Kelas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User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menyimpan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autentikasi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admin.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kelas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ContactMessage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menyimpan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pesan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konsultasi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pengunjung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96ABB-3B96-4C53-8E1D-ABEB1403DF12}" type="slidenum">
              <a:rPr lang="en-ID" smtClean="0"/>
              <a:t>13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790708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Sequence Diagram Login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menggambarkan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urutan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interaksi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antar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secara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temporal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proses login. Admin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memasukkan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kredensial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pada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halaman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login,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mengirimkan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Firebase Authentication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verifikasi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Firebase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mengembalikan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hasil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verifikasi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lalu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mengarahkan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admin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dashboard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jika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berhasil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menampilkan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pesan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error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jika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gagal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Sequence Diagram Kelola Berita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menggambarkan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alur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admin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menyimpan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berita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melalui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formulir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menyimpan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Cloud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Firestore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mengembalikan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konfirmasi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keberhasilan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penghapusan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menampilkan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dialog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konfirmasi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terlebih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dahulu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96ABB-3B96-4C53-8E1D-ABEB1403DF12}" type="slidenum">
              <a:rPr lang="en-ID" smtClean="0"/>
              <a:t>14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05775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10.png"/><Relationship Id="rId4" Type="http://schemas.openxmlformats.org/officeDocument/2006/relationships/image" Target="../media/image2.svg"/><Relationship Id="rId9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sv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sv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sv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sv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sv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2.svg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sv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2.svg"/><Relationship Id="rId9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sv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sv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2.svg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2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svg"/><Relationship Id="rId7" Type="http://schemas.openxmlformats.org/officeDocument/2006/relationships/image" Target="../media/image23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.svg"/><Relationship Id="rId7" Type="http://schemas.openxmlformats.org/officeDocument/2006/relationships/image" Target="../media/image25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svg"/><Relationship Id="rId7" Type="http://schemas.openxmlformats.org/officeDocument/2006/relationships/image" Target="../media/image27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.svg"/><Relationship Id="rId7" Type="http://schemas.openxmlformats.org/officeDocument/2006/relationships/image" Target="../media/image29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svg"/><Relationship Id="rId7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.svg"/><Relationship Id="rId7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svg"/><Relationship Id="rId7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.svg"/><Relationship Id="rId7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73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7850" y="0"/>
            <a:ext cx="19837478" cy="11505737"/>
          </a:xfrm>
          <a:custGeom>
            <a:avLst/>
            <a:gdLst/>
            <a:ahLst/>
            <a:cxnLst/>
            <a:rect l="l" t="t" r="r" b="b"/>
            <a:pathLst>
              <a:path w="19837478" h="11505737">
                <a:moveTo>
                  <a:pt x="0" y="0"/>
                </a:moveTo>
                <a:lnTo>
                  <a:pt x="19837478" y="0"/>
                </a:lnTo>
                <a:lnTo>
                  <a:pt x="19837478" y="11505737"/>
                </a:lnTo>
                <a:lnTo>
                  <a:pt x="0" y="11505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5400000" flipH="1">
            <a:off x="200544" y="-521496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-371580" y="-2280737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 rot="-5400000" flipH="1">
            <a:off x="13889068" y="5987800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 rot="-10800000">
            <a:off x="14418840" y="7843979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 rot="-8586571" flipH="1">
            <a:off x="-2791741" y="8811023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 rot="2213428" flipH="1">
            <a:off x="13329770" y="-1149071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9" name="Freeform 9"/>
          <p:cNvSpPr/>
          <p:nvPr/>
        </p:nvSpPr>
        <p:spPr>
          <a:xfrm rot="-5832155">
            <a:off x="-2643337" y="5103858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0" y="0"/>
                </a:moveTo>
                <a:lnTo>
                  <a:pt x="8784254" y="0"/>
                </a:lnTo>
                <a:lnTo>
                  <a:pt x="8784254" y="9013694"/>
                </a:lnTo>
                <a:lnTo>
                  <a:pt x="0" y="9013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 rot="-5832155" flipH="1" flipV="1">
            <a:off x="12147083" y="-3830552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8784254" y="9013694"/>
                </a:moveTo>
                <a:lnTo>
                  <a:pt x="0" y="9013694"/>
                </a:lnTo>
                <a:lnTo>
                  <a:pt x="0" y="0"/>
                </a:lnTo>
                <a:lnTo>
                  <a:pt x="8784254" y="0"/>
                </a:lnTo>
                <a:lnTo>
                  <a:pt x="8784254" y="9013694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138190" y="2832466"/>
            <a:ext cx="17860755" cy="2136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76"/>
              </a:lnSpc>
            </a:pPr>
            <a:r>
              <a:rPr lang="en-US" sz="5476" b="1">
                <a:solidFill>
                  <a:srgbClr val="FFFFFF"/>
                </a:solidFill>
                <a:latin typeface="Inter Heavy"/>
                <a:ea typeface="Inter Heavy"/>
                <a:cs typeface="Inter Heavy"/>
                <a:sym typeface="Inter Heavy"/>
              </a:rPr>
              <a:t>PERANCANGAN WEBSITE COMPANY PROFILE MENGGUNAKAN NEXT.JS DAN FIREBASE PADA TAO MANULLANG &amp; PARTNERS LAW FIRM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67635" y="1205034"/>
            <a:ext cx="7583280" cy="586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2"/>
              </a:lnSpc>
            </a:pPr>
            <a:r>
              <a:rPr lang="en-US" sz="4211" b="1">
                <a:solidFill>
                  <a:srgbClr val="EEEEEE"/>
                </a:solidFill>
                <a:latin typeface="Sukar Bold"/>
                <a:ea typeface="Sukar Bold"/>
                <a:cs typeface="Sukar Bold"/>
                <a:sym typeface="Sukar Bold"/>
              </a:rPr>
              <a:t>SEMINAR PKL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36576" y="5564160"/>
            <a:ext cx="5868818" cy="1207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29"/>
              </a:lnSpc>
            </a:pPr>
            <a:r>
              <a:rPr lang="en-US" sz="4299" b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Sigit Sadida</a:t>
            </a:r>
          </a:p>
          <a:p>
            <a:pPr algn="ctr">
              <a:lnSpc>
                <a:spcPts val="4729"/>
              </a:lnSpc>
            </a:pPr>
            <a:r>
              <a:rPr lang="en-US" sz="4299" b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NIM. 2257201073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91145" y="8236349"/>
            <a:ext cx="8859644" cy="1220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29"/>
              </a:lnSpc>
            </a:pPr>
            <a:r>
              <a:rPr lang="en-US" sz="4299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Wirdah</a:t>
            </a:r>
            <a:r>
              <a:rPr lang="en-US" sz="4299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Choiriah, </a:t>
            </a:r>
            <a:r>
              <a:rPr lang="en-US" sz="4299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M.Kom</a:t>
            </a:r>
            <a:endParaRPr lang="en-US" sz="4299" b="1" dirty="0">
              <a:solidFill>
                <a:srgbClr val="FCFEFD"/>
              </a:solidFill>
              <a:latin typeface="Sukar Bold"/>
              <a:ea typeface="Sukar Bold"/>
              <a:cs typeface="Sukar Bold"/>
              <a:sym typeface="Sukar Bold"/>
            </a:endParaRPr>
          </a:p>
          <a:p>
            <a:pPr algn="ctr">
              <a:lnSpc>
                <a:spcPts val="4729"/>
              </a:lnSpc>
            </a:pPr>
            <a:r>
              <a:rPr lang="en-US" sz="4299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NIDN. </a:t>
            </a:r>
            <a:r>
              <a:rPr lang="en-ID" sz="4300" b="1" dirty="0">
                <a:solidFill>
                  <a:schemeClr val="bg1"/>
                </a:solidFill>
                <a:latin typeface="Sukar" panose="020B0604020202020204" charset="0"/>
                <a:cs typeface="Sukar" panose="020B0604020202020204" charset="0"/>
              </a:rPr>
              <a:t>0212127501</a:t>
            </a:r>
            <a:endParaRPr lang="en-US" sz="4300" b="1" dirty="0">
              <a:solidFill>
                <a:schemeClr val="bg1"/>
              </a:solidFill>
              <a:latin typeface="Sukar" panose="020B0604020202020204" charset="0"/>
              <a:ea typeface="Sukar Bold"/>
              <a:cs typeface="Sukar" panose="020B0604020202020204" charset="0"/>
              <a:sym typeface="Sukar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444288" y="7596224"/>
            <a:ext cx="4977195" cy="41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</a:pPr>
            <a:r>
              <a:rPr lang="en-US" sz="3076" b="1">
                <a:solidFill>
                  <a:srgbClr val="FCFEFD"/>
                </a:solidFill>
                <a:latin typeface="Inter Bold"/>
                <a:ea typeface="Inter Bold"/>
                <a:cs typeface="Inter Bold"/>
                <a:sym typeface="Inter Bold"/>
              </a:rPr>
              <a:t>DOSEN  PEMBIMBING: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9501" y="163453"/>
            <a:ext cx="9262643" cy="1052603"/>
            <a:chOff x="0" y="0"/>
            <a:chExt cx="12350191" cy="14034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87877" cy="1403471"/>
            </a:xfrm>
            <a:custGeom>
              <a:avLst/>
              <a:gdLst/>
              <a:ahLst/>
              <a:cxnLst/>
              <a:rect l="l" t="t" r="r" b="b"/>
              <a:pathLst>
                <a:path w="1387877" h="1403471">
                  <a:moveTo>
                    <a:pt x="0" y="0"/>
                  </a:moveTo>
                  <a:lnTo>
                    <a:pt x="1387877" y="0"/>
                  </a:lnTo>
                  <a:lnTo>
                    <a:pt x="1387877" y="1403471"/>
                  </a:lnTo>
                  <a:lnTo>
                    <a:pt x="0" y="140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dirty="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40277" y="425447"/>
              <a:ext cx="10809914" cy="595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8"/>
                </a:lnSpc>
              </a:pPr>
              <a:r>
                <a:rPr lang="en-US" sz="3107" b="1">
                  <a:solidFill>
                    <a:srgbClr val="FCFEFD"/>
                  </a:solidFill>
                  <a:latin typeface="Sukar Heavy"/>
                  <a:ea typeface="Sukar Heavy"/>
                  <a:cs typeface="Sukar Heavy"/>
                  <a:sym typeface="Sukar Heavy"/>
                </a:rPr>
                <a:t>UNIVERSITAS LANCANG KUNING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832155">
            <a:off x="-2643337" y="5103858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0" y="0"/>
                </a:moveTo>
                <a:lnTo>
                  <a:pt x="8784254" y="0"/>
                </a:lnTo>
                <a:lnTo>
                  <a:pt x="8784254" y="9013694"/>
                </a:lnTo>
                <a:lnTo>
                  <a:pt x="0" y="9013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-5832155" flipH="1" flipV="1">
            <a:off x="12147083" y="-3830552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8784254" y="9013694"/>
                </a:moveTo>
                <a:lnTo>
                  <a:pt x="0" y="9013694"/>
                </a:lnTo>
                <a:lnTo>
                  <a:pt x="0" y="0"/>
                </a:lnTo>
                <a:lnTo>
                  <a:pt x="8784254" y="0"/>
                </a:lnTo>
                <a:lnTo>
                  <a:pt x="8784254" y="9013694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4" name="Group 4"/>
          <p:cNvGrpSpPr/>
          <p:nvPr/>
        </p:nvGrpSpPr>
        <p:grpSpPr>
          <a:xfrm rot="-10800000">
            <a:off x="1055972" y="1028700"/>
            <a:ext cx="16176056" cy="8229600"/>
            <a:chOff x="0" y="0"/>
            <a:chExt cx="6025367" cy="30654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25367" cy="3065417"/>
            </a:xfrm>
            <a:custGeom>
              <a:avLst/>
              <a:gdLst/>
              <a:ahLst/>
              <a:cxnLst/>
              <a:rect l="l" t="t" r="r" b="b"/>
              <a:pathLst>
                <a:path w="6025367" h="3065417">
                  <a:moveTo>
                    <a:pt x="9572" y="0"/>
                  </a:moveTo>
                  <a:lnTo>
                    <a:pt x="6015795" y="0"/>
                  </a:lnTo>
                  <a:cubicBezTo>
                    <a:pt x="6018333" y="0"/>
                    <a:pt x="6020768" y="1008"/>
                    <a:pt x="6022563" y="2804"/>
                  </a:cubicBezTo>
                  <a:cubicBezTo>
                    <a:pt x="6024358" y="4599"/>
                    <a:pt x="6025367" y="7033"/>
                    <a:pt x="6025367" y="9572"/>
                  </a:cubicBezTo>
                  <a:lnTo>
                    <a:pt x="6025367" y="3055845"/>
                  </a:lnTo>
                  <a:cubicBezTo>
                    <a:pt x="6025367" y="3058384"/>
                    <a:pt x="6024358" y="3060818"/>
                    <a:pt x="6022563" y="3062614"/>
                  </a:cubicBezTo>
                  <a:cubicBezTo>
                    <a:pt x="6020768" y="3064409"/>
                    <a:pt x="6018333" y="3065417"/>
                    <a:pt x="6015795" y="3065417"/>
                  </a:cubicBezTo>
                  <a:lnTo>
                    <a:pt x="9572" y="3065417"/>
                  </a:lnTo>
                  <a:cubicBezTo>
                    <a:pt x="7033" y="3065417"/>
                    <a:pt x="4599" y="3064409"/>
                    <a:pt x="2804" y="3062614"/>
                  </a:cubicBezTo>
                  <a:cubicBezTo>
                    <a:pt x="1008" y="3060818"/>
                    <a:pt x="0" y="3058384"/>
                    <a:pt x="0" y="3055845"/>
                  </a:cubicBezTo>
                  <a:lnTo>
                    <a:pt x="0" y="9572"/>
                  </a:lnTo>
                  <a:cubicBezTo>
                    <a:pt x="0" y="7033"/>
                    <a:pt x="1008" y="4599"/>
                    <a:pt x="2804" y="2804"/>
                  </a:cubicBezTo>
                  <a:cubicBezTo>
                    <a:pt x="4599" y="1008"/>
                    <a:pt x="7033" y="0"/>
                    <a:pt x="9572" y="0"/>
                  </a:cubicBezTo>
                  <a:close/>
                </a:path>
              </a:pathLst>
            </a:custGeom>
            <a:solidFill>
              <a:srgbClr val="EEEEE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6025367" cy="3084467"/>
            </a:xfrm>
            <a:prstGeom prst="rect">
              <a:avLst/>
            </a:prstGeom>
          </p:spPr>
          <p:txBody>
            <a:bodyPr lIns="35919" tIns="35919" rIns="35919" bIns="35919" rtlCol="0" anchor="ctr"/>
            <a:lstStyle/>
            <a:p>
              <a:pPr marL="0" lvl="0" indent="0" algn="ctr">
                <a:lnSpc>
                  <a:spcPts val="12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400000" flipH="1">
            <a:off x="13889068" y="5987800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 rot="-8586571" flipH="1">
            <a:off x="-2791741" y="8811023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9" name="Freeform 9"/>
          <p:cNvSpPr/>
          <p:nvPr/>
        </p:nvSpPr>
        <p:spPr>
          <a:xfrm rot="2213428" flipH="1">
            <a:off x="13329770" y="-1149071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4760823" y="1197006"/>
            <a:ext cx="8817091" cy="125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35"/>
              </a:lnSpc>
            </a:pPr>
            <a:r>
              <a:rPr lang="en-US" sz="8158">
                <a:solidFill>
                  <a:srgbClr val="052A50"/>
                </a:solidFill>
                <a:latin typeface="Oswald"/>
                <a:ea typeface="Oswald"/>
                <a:cs typeface="Oswald"/>
                <a:sym typeface="Oswald"/>
              </a:rPr>
              <a:t>LATAR BELAKANG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03435" y="3404055"/>
            <a:ext cx="12681130" cy="5361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Kemajuan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teknologi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informasi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saat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ini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telah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membawa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perubahan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besar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dalam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berbagai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bidang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termasuk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sektor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jasa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profesional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seperti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firma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hukum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Keberadaan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website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resmi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bukan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lagi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sekadar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pelengkap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melainkan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sudah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menjadi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kebutuhan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utama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bagi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perusahaan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untuk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menunjukkan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eksistensi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dan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kredibilitasnya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. TAO MANULLANG &amp; Partners Law Firm,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firma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hukum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yang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berdiri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sejak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tahun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2021 di Jakarta Selatan,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hingga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saat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ini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belum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memiliki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website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resmi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Penyampaian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profil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masih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menggunakan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brosur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cetak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dan file PDF manual,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sementara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publikasi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kegiatan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hukum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hanya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melalui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Instagram yang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tidak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terindeks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mesin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spc="60" dirty="0" err="1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pencari</a:t>
            </a:r>
            <a:r>
              <a:rPr lang="en-US" sz="3000" spc="60" dirty="0">
                <a:solidFill>
                  <a:srgbClr val="3F3F3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9501" y="163453"/>
            <a:ext cx="9262643" cy="1052603"/>
            <a:chOff x="0" y="0"/>
            <a:chExt cx="12350191" cy="140347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87877" cy="1403471"/>
            </a:xfrm>
            <a:custGeom>
              <a:avLst/>
              <a:gdLst/>
              <a:ahLst/>
              <a:cxnLst/>
              <a:rect l="l" t="t" r="r" b="b"/>
              <a:pathLst>
                <a:path w="1387877" h="1403471">
                  <a:moveTo>
                    <a:pt x="0" y="0"/>
                  </a:moveTo>
                  <a:lnTo>
                    <a:pt x="1387877" y="0"/>
                  </a:lnTo>
                  <a:lnTo>
                    <a:pt x="1387877" y="1403471"/>
                  </a:lnTo>
                  <a:lnTo>
                    <a:pt x="0" y="140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40277" y="425447"/>
              <a:ext cx="10809914" cy="595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8"/>
                </a:lnSpc>
              </a:pPr>
              <a:r>
                <a:rPr lang="en-US" sz="3107" b="1">
                  <a:solidFill>
                    <a:srgbClr val="FCFEFD"/>
                  </a:solidFill>
                  <a:latin typeface="Sukar Heavy"/>
                  <a:ea typeface="Sukar Heavy"/>
                  <a:cs typeface="Sukar Heavy"/>
                  <a:sym typeface="Sukar Heavy"/>
                </a:rPr>
                <a:t>UNIVERSITAS LANCANG KUNING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1580" y="-2280737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-5400000" flipH="1">
            <a:off x="13889068" y="5987800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 rot="-10800000">
            <a:off x="14418840" y="7843979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 rot="-8586571" flipH="1">
            <a:off x="-2791741" y="8811023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 rot="2213428" flipH="1">
            <a:off x="13329770" y="-1149071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 rot="-5832155">
            <a:off x="-2643337" y="5103858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0" y="0"/>
                </a:moveTo>
                <a:lnTo>
                  <a:pt x="8784254" y="0"/>
                </a:lnTo>
                <a:lnTo>
                  <a:pt x="8784254" y="9013694"/>
                </a:lnTo>
                <a:lnTo>
                  <a:pt x="0" y="9013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 rot="-5832155" flipH="1" flipV="1">
            <a:off x="12147083" y="-3830552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8784254" y="9013694"/>
                </a:moveTo>
                <a:lnTo>
                  <a:pt x="0" y="9013694"/>
                </a:lnTo>
                <a:lnTo>
                  <a:pt x="0" y="0"/>
                </a:lnTo>
                <a:lnTo>
                  <a:pt x="8784254" y="0"/>
                </a:lnTo>
                <a:lnTo>
                  <a:pt x="8784254" y="9013694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9" name="Group 9"/>
          <p:cNvGrpSpPr/>
          <p:nvPr/>
        </p:nvGrpSpPr>
        <p:grpSpPr>
          <a:xfrm>
            <a:off x="129501" y="163453"/>
            <a:ext cx="9262643" cy="1052603"/>
            <a:chOff x="0" y="0"/>
            <a:chExt cx="12350191" cy="14034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87877" cy="1403471"/>
            </a:xfrm>
            <a:custGeom>
              <a:avLst/>
              <a:gdLst/>
              <a:ahLst/>
              <a:cxnLst/>
              <a:rect l="l" t="t" r="r" b="b"/>
              <a:pathLst>
                <a:path w="1387877" h="1403471">
                  <a:moveTo>
                    <a:pt x="0" y="0"/>
                  </a:moveTo>
                  <a:lnTo>
                    <a:pt x="1387877" y="0"/>
                  </a:lnTo>
                  <a:lnTo>
                    <a:pt x="1387877" y="1403471"/>
                  </a:lnTo>
                  <a:lnTo>
                    <a:pt x="0" y="140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40277" y="425447"/>
              <a:ext cx="10809914" cy="595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8"/>
                </a:lnSpc>
              </a:pPr>
              <a:r>
                <a:rPr lang="en-US" sz="3107" b="1">
                  <a:solidFill>
                    <a:srgbClr val="FCFEFD"/>
                  </a:solidFill>
                  <a:latin typeface="Sukar Heavy"/>
                  <a:ea typeface="Sukar Heavy"/>
                  <a:cs typeface="Sukar Heavy"/>
                  <a:sym typeface="Sukar Heavy"/>
                </a:rPr>
                <a:t>UNIVERSITAS LANCANG KUNING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24573" y="2528746"/>
            <a:ext cx="15935143" cy="5151941"/>
            <a:chOff x="0" y="114300"/>
            <a:chExt cx="21246857" cy="6869253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1877920"/>
              <a:ext cx="1302552" cy="1302552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5AB0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0" y="4828787"/>
              <a:ext cx="1302552" cy="1302552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C4F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3041676" y="114300"/>
              <a:ext cx="13038432" cy="11980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500"/>
                </a:lnSpc>
              </a:pPr>
              <a:r>
                <a:rPr lang="en-US" sz="6500" b="1">
                  <a:solidFill>
                    <a:srgbClr val="FCFEFD"/>
                  </a:solidFill>
                  <a:latin typeface="Inter Ultra-Bold"/>
                  <a:ea typeface="Inter Ultra-Bold"/>
                  <a:cs typeface="Inter Ultra-Bold"/>
                  <a:sym typeface="Inter Ultra-Bold"/>
                </a:rPr>
                <a:t>RUMUSAN MASALAH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94" y="2317188"/>
              <a:ext cx="1302552" cy="5827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5"/>
                </a:lnSpc>
              </a:pPr>
              <a:r>
                <a:rPr lang="en-US" sz="3145" b="1">
                  <a:solidFill>
                    <a:srgbClr val="FCFEFD"/>
                  </a:solidFill>
                  <a:latin typeface="Inter Ultra-Bold"/>
                  <a:ea typeface="Inter Ultra-Bold"/>
                  <a:cs typeface="Inter Ultra-Bold"/>
                  <a:sym typeface="Inter Ultra-Bold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94" y="5230846"/>
              <a:ext cx="1302552" cy="5827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5"/>
                </a:lnSpc>
              </a:pPr>
              <a:r>
                <a:rPr lang="en-US" sz="3145" b="1">
                  <a:solidFill>
                    <a:srgbClr val="FCFEFD"/>
                  </a:solidFill>
                  <a:latin typeface="Inter Ultra-Bold"/>
                  <a:ea typeface="Inter Ultra-Bold"/>
                  <a:cs typeface="Inter Ultra-Bold"/>
                  <a:sym typeface="Inter Ultra-Bold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87911" y="1954120"/>
              <a:ext cx="19658946" cy="2086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00"/>
                </a:lnSpc>
              </a:pPr>
              <a:r>
                <a:rPr lang="en-US" sz="4000" dirty="0" err="1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Bagaimana</a:t>
              </a:r>
              <a:r>
                <a:rPr lang="en-US" sz="4000" dirty="0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 </a:t>
              </a:r>
              <a:r>
                <a:rPr lang="en-US" sz="4000" dirty="0" err="1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merancang</a:t>
              </a:r>
              <a:r>
                <a:rPr lang="en-US" sz="4000" dirty="0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 dan </a:t>
              </a:r>
              <a:r>
                <a:rPr lang="en-US" sz="4000" dirty="0" err="1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membangun</a:t>
              </a:r>
              <a:r>
                <a:rPr lang="en-US" sz="4000" dirty="0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 website company profile yang </a:t>
              </a:r>
              <a:r>
                <a:rPr lang="en-US" sz="4000" dirty="0" err="1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informatif</a:t>
              </a:r>
              <a:r>
                <a:rPr lang="en-US" sz="4000" dirty="0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 dan </a:t>
              </a:r>
              <a:r>
                <a:rPr lang="en-US" sz="4000" dirty="0" err="1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profesional</a:t>
              </a:r>
              <a:r>
                <a:rPr lang="en-US" sz="4000" dirty="0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 </a:t>
              </a:r>
              <a:r>
                <a:rPr lang="en-US" sz="4000" dirty="0" err="1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untuk</a:t>
              </a:r>
              <a:r>
                <a:rPr lang="en-US" sz="4000" dirty="0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 TAO MANULLANG &amp; Partners Law Firm </a:t>
              </a:r>
              <a:r>
                <a:rPr lang="en-US" sz="4000" dirty="0" err="1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menggunakan</a:t>
              </a:r>
              <a:r>
                <a:rPr lang="en-US" sz="4000" dirty="0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 framework Next.js?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87911" y="4904987"/>
              <a:ext cx="18526681" cy="20785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00"/>
                </a:lnSpc>
              </a:pPr>
              <a:r>
                <a:rPr lang="sv-SE" sz="4000" dirty="0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Bagaimana mendesain antarmuka pengguna (user interface) website serta panel admin yang mudah digunakan oleh staf firma hukum?</a:t>
              </a:r>
              <a:endParaRPr lang="en-US" sz="4000" dirty="0">
                <a:solidFill>
                  <a:srgbClr val="FCFEFD"/>
                </a:solidFill>
                <a:latin typeface="Sukar"/>
                <a:ea typeface="Sukar"/>
                <a:cs typeface="Sukar"/>
                <a:sym typeface="Suka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1580" y="-2280737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-5400000" flipH="1">
            <a:off x="13889068" y="5987800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 rot="-10800000">
            <a:off x="14418840" y="7843979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 rot="-8586571" flipH="1">
            <a:off x="-2791741" y="8811023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 rot="2213428" flipH="1">
            <a:off x="13329770" y="-1149071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 rot="-5832155">
            <a:off x="-2643337" y="5103858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0" y="0"/>
                </a:moveTo>
                <a:lnTo>
                  <a:pt x="8784254" y="0"/>
                </a:lnTo>
                <a:lnTo>
                  <a:pt x="8784254" y="9013694"/>
                </a:lnTo>
                <a:lnTo>
                  <a:pt x="0" y="9013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 rot="-5832155" flipH="1" flipV="1">
            <a:off x="12147083" y="-3830552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8784254" y="9013694"/>
                </a:moveTo>
                <a:lnTo>
                  <a:pt x="0" y="9013694"/>
                </a:lnTo>
                <a:lnTo>
                  <a:pt x="0" y="0"/>
                </a:lnTo>
                <a:lnTo>
                  <a:pt x="8784254" y="0"/>
                </a:lnTo>
                <a:lnTo>
                  <a:pt x="8784254" y="9013694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9" name="Group 9"/>
          <p:cNvGrpSpPr/>
          <p:nvPr/>
        </p:nvGrpSpPr>
        <p:grpSpPr>
          <a:xfrm>
            <a:off x="129501" y="163453"/>
            <a:ext cx="9262643" cy="1052603"/>
            <a:chOff x="0" y="0"/>
            <a:chExt cx="12350191" cy="14034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87877" cy="1403471"/>
            </a:xfrm>
            <a:custGeom>
              <a:avLst/>
              <a:gdLst/>
              <a:ahLst/>
              <a:cxnLst/>
              <a:rect l="l" t="t" r="r" b="b"/>
              <a:pathLst>
                <a:path w="1387877" h="1403471">
                  <a:moveTo>
                    <a:pt x="0" y="0"/>
                  </a:moveTo>
                  <a:lnTo>
                    <a:pt x="1387877" y="0"/>
                  </a:lnTo>
                  <a:lnTo>
                    <a:pt x="1387877" y="1403471"/>
                  </a:lnTo>
                  <a:lnTo>
                    <a:pt x="0" y="140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40277" y="425447"/>
              <a:ext cx="10809914" cy="595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8"/>
                </a:lnSpc>
              </a:pPr>
              <a:r>
                <a:rPr lang="en-US" sz="3107" b="1">
                  <a:solidFill>
                    <a:srgbClr val="FCFEFD"/>
                  </a:solidFill>
                  <a:latin typeface="Sukar Heavy"/>
                  <a:ea typeface="Sukar Heavy"/>
                  <a:cs typeface="Sukar Heavy"/>
                  <a:sym typeface="Sukar Heavy"/>
                </a:rPr>
                <a:t>UNIVERSITAS LANCANG KUNING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24573" y="2528746"/>
            <a:ext cx="15935143" cy="4644586"/>
            <a:chOff x="0" y="114300"/>
            <a:chExt cx="21246857" cy="619278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1877920"/>
              <a:ext cx="1302552" cy="1302552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5AB0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0" y="4828787"/>
              <a:ext cx="1302552" cy="1302552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C4F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3041676" y="114300"/>
              <a:ext cx="13038432" cy="11980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500"/>
                </a:lnSpc>
              </a:pPr>
              <a:r>
                <a:rPr lang="en-US" sz="6500" b="1">
                  <a:solidFill>
                    <a:srgbClr val="FCFEFD"/>
                  </a:solidFill>
                  <a:latin typeface="Inter Ultra-Bold"/>
                  <a:ea typeface="Inter Ultra-Bold"/>
                  <a:cs typeface="Inter Ultra-Bold"/>
                  <a:sym typeface="Inter Ultra-Bold"/>
                </a:rPr>
                <a:t>TUJUAN PENELITIAN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94" y="2317188"/>
              <a:ext cx="1302552" cy="5827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5"/>
                </a:lnSpc>
              </a:pPr>
              <a:r>
                <a:rPr lang="en-US" sz="3145" b="1">
                  <a:solidFill>
                    <a:srgbClr val="FCFEFD"/>
                  </a:solidFill>
                  <a:latin typeface="Inter Ultra-Bold"/>
                  <a:ea typeface="Inter Ultra-Bold"/>
                  <a:cs typeface="Inter Ultra-Bold"/>
                  <a:sym typeface="Inter Ultra-Bold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94" y="5230846"/>
              <a:ext cx="1302552" cy="5827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5"/>
                </a:lnSpc>
              </a:pPr>
              <a:r>
                <a:rPr lang="en-US" sz="3145" b="1">
                  <a:solidFill>
                    <a:srgbClr val="FCFEFD"/>
                  </a:solidFill>
                  <a:latin typeface="Inter Ultra-Bold"/>
                  <a:ea typeface="Inter Ultra-Bold"/>
                  <a:cs typeface="Inter Ultra-Bold"/>
                  <a:sym typeface="Inter Ultra-Bold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87911" y="1954120"/>
              <a:ext cx="19658946" cy="20785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00"/>
                </a:lnSpc>
              </a:pPr>
              <a:r>
                <a:rPr lang="en-US" sz="4000" dirty="0" err="1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Merancang</a:t>
              </a:r>
              <a:r>
                <a:rPr lang="en-US" sz="4000" dirty="0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 dan </a:t>
              </a:r>
              <a:r>
                <a:rPr lang="en-US" sz="4000" dirty="0" err="1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membangun</a:t>
              </a:r>
              <a:r>
                <a:rPr lang="en-US" sz="4000" dirty="0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 website company profile yang </a:t>
              </a:r>
              <a:r>
                <a:rPr lang="en-US" sz="4000" dirty="0" err="1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dapat</a:t>
              </a:r>
              <a:r>
                <a:rPr lang="en-US" sz="4000" dirty="0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 </a:t>
              </a:r>
              <a:r>
                <a:rPr lang="en-US" sz="4000" dirty="0" err="1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merepresentasikan</a:t>
              </a:r>
              <a:r>
                <a:rPr lang="en-US" sz="4000" dirty="0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 </a:t>
              </a:r>
              <a:r>
                <a:rPr lang="en-US" sz="4000" dirty="0" err="1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profil</a:t>
              </a:r>
              <a:r>
                <a:rPr lang="en-US" sz="4000" dirty="0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 TAO MANULLANG &amp; Partners Law Firm </a:t>
              </a:r>
              <a:r>
                <a:rPr lang="en-US" sz="4000" dirty="0" err="1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secara</a:t>
              </a:r>
              <a:r>
                <a:rPr lang="en-US" sz="4000" dirty="0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 digital.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87911" y="4904987"/>
              <a:ext cx="18526681" cy="14020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00"/>
                </a:lnSpc>
              </a:pPr>
              <a:r>
                <a:rPr lang="en-US" sz="4000" dirty="0" err="1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Merancang</a:t>
              </a:r>
              <a:r>
                <a:rPr lang="en-US" sz="4000" dirty="0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 </a:t>
              </a:r>
              <a:r>
                <a:rPr lang="en-US" sz="4000" dirty="0" err="1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desain</a:t>
              </a:r>
              <a:r>
                <a:rPr lang="en-US" sz="4000" dirty="0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 </a:t>
              </a:r>
              <a:r>
                <a:rPr lang="en-US" sz="4000" dirty="0" err="1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antarmuka</a:t>
              </a:r>
              <a:r>
                <a:rPr lang="en-US" sz="4000" dirty="0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 panel admin yang </a:t>
              </a:r>
              <a:r>
                <a:rPr lang="en-US" sz="4000" dirty="0" err="1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memudahkan</a:t>
              </a:r>
              <a:r>
                <a:rPr lang="en-US" sz="4000" dirty="0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 </a:t>
              </a:r>
              <a:r>
                <a:rPr lang="en-US" sz="4000" dirty="0" err="1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staf</a:t>
              </a:r>
              <a:r>
                <a:rPr lang="en-US" sz="4000" dirty="0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 </a:t>
              </a:r>
              <a:r>
                <a:rPr lang="en-US" sz="4000" dirty="0" err="1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firma</a:t>
              </a:r>
              <a:r>
                <a:rPr lang="en-US" sz="4000" dirty="0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 </a:t>
              </a:r>
              <a:r>
                <a:rPr lang="en-US" sz="4000" dirty="0" err="1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dalam</a:t>
              </a:r>
              <a:r>
                <a:rPr lang="en-US" sz="4000" dirty="0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 </a:t>
              </a:r>
              <a:r>
                <a:rPr lang="en-US" sz="4000" dirty="0" err="1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mengelola</a:t>
              </a:r>
              <a:r>
                <a:rPr lang="en-US" sz="4000" dirty="0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 </a:t>
              </a:r>
              <a:r>
                <a:rPr lang="en-US" sz="4000" dirty="0" err="1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konten</a:t>
              </a:r>
              <a:r>
                <a:rPr lang="en-US" sz="4000" dirty="0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 </a:t>
              </a:r>
              <a:r>
                <a:rPr lang="en-US" sz="4000" dirty="0" err="1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berita</a:t>
              </a:r>
              <a:r>
                <a:rPr lang="en-US" sz="4000" dirty="0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 </a:t>
              </a:r>
              <a:r>
                <a:rPr lang="en-US" sz="4000" dirty="0" err="1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hukum</a:t>
              </a:r>
              <a:r>
                <a:rPr lang="en-US" sz="4000" dirty="0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 </a:t>
              </a:r>
              <a:r>
                <a:rPr lang="en-US" sz="4000" dirty="0" err="1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secara</a:t>
              </a:r>
              <a:r>
                <a:rPr lang="en-US" sz="4000" dirty="0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 </a:t>
              </a:r>
              <a:r>
                <a:rPr lang="en-US" sz="4000" dirty="0" err="1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mandiri</a:t>
              </a:r>
              <a:r>
                <a:rPr lang="en-US" sz="4000" dirty="0">
                  <a:solidFill>
                    <a:srgbClr val="FCFEFD"/>
                  </a:solidFill>
                  <a:latin typeface="Sukar"/>
                  <a:ea typeface="Sukar"/>
                  <a:cs typeface="Sukar"/>
                  <a:sym typeface="Sukar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1580" y="-2280737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-5400000" flipH="1">
            <a:off x="13889068" y="5987800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 rot="-10800000">
            <a:off x="14418840" y="7843979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 rot="-8586571" flipH="1">
            <a:off x="-2791741" y="8811023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 rot="2213428" flipH="1">
            <a:off x="13329770" y="-1149071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 rot="-5832155">
            <a:off x="-2643337" y="5103858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0" y="0"/>
                </a:moveTo>
                <a:lnTo>
                  <a:pt x="8784254" y="0"/>
                </a:lnTo>
                <a:lnTo>
                  <a:pt x="8784254" y="9013694"/>
                </a:lnTo>
                <a:lnTo>
                  <a:pt x="0" y="9013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 rot="-5832155" flipH="1" flipV="1">
            <a:off x="12147083" y="-3830552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8784254" y="9013694"/>
                </a:moveTo>
                <a:lnTo>
                  <a:pt x="0" y="9013694"/>
                </a:lnTo>
                <a:lnTo>
                  <a:pt x="0" y="0"/>
                </a:lnTo>
                <a:lnTo>
                  <a:pt x="8784254" y="0"/>
                </a:lnTo>
                <a:lnTo>
                  <a:pt x="8784254" y="9013694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9" name="Group 9"/>
          <p:cNvGrpSpPr/>
          <p:nvPr/>
        </p:nvGrpSpPr>
        <p:grpSpPr>
          <a:xfrm>
            <a:off x="129501" y="163453"/>
            <a:ext cx="9262643" cy="1052603"/>
            <a:chOff x="0" y="0"/>
            <a:chExt cx="12350191" cy="14034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87877" cy="1403471"/>
            </a:xfrm>
            <a:custGeom>
              <a:avLst/>
              <a:gdLst/>
              <a:ahLst/>
              <a:cxnLst/>
              <a:rect l="l" t="t" r="r" b="b"/>
              <a:pathLst>
                <a:path w="1387877" h="1403471">
                  <a:moveTo>
                    <a:pt x="0" y="0"/>
                  </a:moveTo>
                  <a:lnTo>
                    <a:pt x="1387877" y="0"/>
                  </a:lnTo>
                  <a:lnTo>
                    <a:pt x="1387877" y="1403471"/>
                  </a:lnTo>
                  <a:lnTo>
                    <a:pt x="0" y="140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40277" y="425447"/>
              <a:ext cx="10809914" cy="595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8"/>
                </a:lnSpc>
              </a:pPr>
              <a:r>
                <a:rPr lang="en-US" sz="3107" b="1">
                  <a:solidFill>
                    <a:srgbClr val="FCFEFD"/>
                  </a:solidFill>
                  <a:latin typeface="Sukar Heavy"/>
                  <a:ea typeface="Sukar Heavy"/>
                  <a:cs typeface="Sukar Heavy"/>
                  <a:sym typeface="Sukar Heavy"/>
                </a:rPr>
                <a:t>UNIVERSITAS LANCANG KUNING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112011" y="3935592"/>
            <a:ext cx="3859916" cy="1446259"/>
            <a:chOff x="0" y="0"/>
            <a:chExt cx="1016603" cy="3809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16603" cy="380908"/>
            </a:xfrm>
            <a:custGeom>
              <a:avLst/>
              <a:gdLst/>
              <a:ahLst/>
              <a:cxnLst/>
              <a:rect l="l" t="t" r="r" b="b"/>
              <a:pathLst>
                <a:path w="1016603" h="380908">
                  <a:moveTo>
                    <a:pt x="100286" y="0"/>
                  </a:moveTo>
                  <a:lnTo>
                    <a:pt x="916317" y="0"/>
                  </a:lnTo>
                  <a:cubicBezTo>
                    <a:pt x="942915" y="0"/>
                    <a:pt x="968423" y="10566"/>
                    <a:pt x="987230" y="29373"/>
                  </a:cubicBezTo>
                  <a:cubicBezTo>
                    <a:pt x="1006037" y="48180"/>
                    <a:pt x="1016603" y="73689"/>
                    <a:pt x="1016603" y="100286"/>
                  </a:cubicBezTo>
                  <a:lnTo>
                    <a:pt x="1016603" y="280622"/>
                  </a:lnTo>
                  <a:cubicBezTo>
                    <a:pt x="1016603" y="307219"/>
                    <a:pt x="1006037" y="332727"/>
                    <a:pt x="987230" y="351535"/>
                  </a:cubicBezTo>
                  <a:cubicBezTo>
                    <a:pt x="968423" y="370342"/>
                    <a:pt x="942915" y="380908"/>
                    <a:pt x="916317" y="380908"/>
                  </a:cubicBezTo>
                  <a:lnTo>
                    <a:pt x="100286" y="380908"/>
                  </a:lnTo>
                  <a:cubicBezTo>
                    <a:pt x="73689" y="380908"/>
                    <a:pt x="48180" y="370342"/>
                    <a:pt x="29373" y="351535"/>
                  </a:cubicBezTo>
                  <a:cubicBezTo>
                    <a:pt x="10566" y="332727"/>
                    <a:pt x="0" y="307219"/>
                    <a:pt x="0" y="280622"/>
                  </a:cubicBezTo>
                  <a:lnTo>
                    <a:pt x="0" y="100286"/>
                  </a:lnTo>
                  <a:cubicBezTo>
                    <a:pt x="0" y="73689"/>
                    <a:pt x="10566" y="48180"/>
                    <a:pt x="29373" y="29373"/>
                  </a:cubicBezTo>
                  <a:cubicBezTo>
                    <a:pt x="48180" y="10566"/>
                    <a:pt x="73689" y="0"/>
                    <a:pt x="100286" y="0"/>
                  </a:cubicBezTo>
                  <a:close/>
                </a:path>
              </a:pathLst>
            </a:custGeom>
            <a:solidFill>
              <a:srgbClr val="F5AB0B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016603" cy="419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572126" y="3935592"/>
            <a:ext cx="3859916" cy="1446259"/>
            <a:chOff x="0" y="0"/>
            <a:chExt cx="1016603" cy="38090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16603" cy="380908"/>
            </a:xfrm>
            <a:custGeom>
              <a:avLst/>
              <a:gdLst/>
              <a:ahLst/>
              <a:cxnLst/>
              <a:rect l="l" t="t" r="r" b="b"/>
              <a:pathLst>
                <a:path w="1016603" h="380908">
                  <a:moveTo>
                    <a:pt x="100286" y="0"/>
                  </a:moveTo>
                  <a:lnTo>
                    <a:pt x="916317" y="0"/>
                  </a:lnTo>
                  <a:cubicBezTo>
                    <a:pt x="942915" y="0"/>
                    <a:pt x="968423" y="10566"/>
                    <a:pt x="987230" y="29373"/>
                  </a:cubicBezTo>
                  <a:cubicBezTo>
                    <a:pt x="1006037" y="48180"/>
                    <a:pt x="1016603" y="73689"/>
                    <a:pt x="1016603" y="100286"/>
                  </a:cubicBezTo>
                  <a:lnTo>
                    <a:pt x="1016603" y="280622"/>
                  </a:lnTo>
                  <a:cubicBezTo>
                    <a:pt x="1016603" y="307219"/>
                    <a:pt x="1006037" y="332727"/>
                    <a:pt x="987230" y="351535"/>
                  </a:cubicBezTo>
                  <a:cubicBezTo>
                    <a:pt x="968423" y="370342"/>
                    <a:pt x="942915" y="380908"/>
                    <a:pt x="916317" y="380908"/>
                  </a:cubicBezTo>
                  <a:lnTo>
                    <a:pt x="100286" y="380908"/>
                  </a:lnTo>
                  <a:cubicBezTo>
                    <a:pt x="73689" y="380908"/>
                    <a:pt x="48180" y="370342"/>
                    <a:pt x="29373" y="351535"/>
                  </a:cubicBezTo>
                  <a:cubicBezTo>
                    <a:pt x="10566" y="332727"/>
                    <a:pt x="0" y="307219"/>
                    <a:pt x="0" y="280622"/>
                  </a:cubicBezTo>
                  <a:lnTo>
                    <a:pt x="0" y="100286"/>
                  </a:lnTo>
                  <a:cubicBezTo>
                    <a:pt x="0" y="73689"/>
                    <a:pt x="10566" y="48180"/>
                    <a:pt x="29373" y="29373"/>
                  </a:cubicBezTo>
                  <a:cubicBezTo>
                    <a:pt x="48180" y="10566"/>
                    <a:pt x="73689" y="0"/>
                    <a:pt x="100286" y="0"/>
                  </a:cubicBezTo>
                  <a:close/>
                </a:path>
              </a:pathLst>
            </a:custGeom>
            <a:solidFill>
              <a:srgbClr val="F5AB0B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016603" cy="419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51895" y="3935592"/>
            <a:ext cx="3859916" cy="1446259"/>
            <a:chOff x="0" y="0"/>
            <a:chExt cx="1016603" cy="38090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16603" cy="380908"/>
            </a:xfrm>
            <a:custGeom>
              <a:avLst/>
              <a:gdLst/>
              <a:ahLst/>
              <a:cxnLst/>
              <a:rect l="l" t="t" r="r" b="b"/>
              <a:pathLst>
                <a:path w="1016603" h="380908">
                  <a:moveTo>
                    <a:pt x="100286" y="0"/>
                  </a:moveTo>
                  <a:lnTo>
                    <a:pt x="916317" y="0"/>
                  </a:lnTo>
                  <a:cubicBezTo>
                    <a:pt x="942915" y="0"/>
                    <a:pt x="968423" y="10566"/>
                    <a:pt x="987230" y="29373"/>
                  </a:cubicBezTo>
                  <a:cubicBezTo>
                    <a:pt x="1006037" y="48180"/>
                    <a:pt x="1016603" y="73689"/>
                    <a:pt x="1016603" y="100286"/>
                  </a:cubicBezTo>
                  <a:lnTo>
                    <a:pt x="1016603" y="280622"/>
                  </a:lnTo>
                  <a:cubicBezTo>
                    <a:pt x="1016603" y="307219"/>
                    <a:pt x="1006037" y="332727"/>
                    <a:pt x="987230" y="351535"/>
                  </a:cubicBezTo>
                  <a:cubicBezTo>
                    <a:pt x="968423" y="370342"/>
                    <a:pt x="942915" y="380908"/>
                    <a:pt x="916317" y="380908"/>
                  </a:cubicBezTo>
                  <a:lnTo>
                    <a:pt x="100286" y="380908"/>
                  </a:lnTo>
                  <a:cubicBezTo>
                    <a:pt x="73689" y="380908"/>
                    <a:pt x="48180" y="370342"/>
                    <a:pt x="29373" y="351535"/>
                  </a:cubicBezTo>
                  <a:cubicBezTo>
                    <a:pt x="10566" y="332727"/>
                    <a:pt x="0" y="307219"/>
                    <a:pt x="0" y="280622"/>
                  </a:cubicBezTo>
                  <a:lnTo>
                    <a:pt x="0" y="100286"/>
                  </a:lnTo>
                  <a:cubicBezTo>
                    <a:pt x="0" y="73689"/>
                    <a:pt x="10566" y="48180"/>
                    <a:pt x="29373" y="29373"/>
                  </a:cubicBezTo>
                  <a:cubicBezTo>
                    <a:pt x="48180" y="10566"/>
                    <a:pt x="73689" y="0"/>
                    <a:pt x="100286" y="0"/>
                  </a:cubicBezTo>
                  <a:close/>
                </a:path>
              </a:pathLst>
            </a:custGeom>
            <a:solidFill>
              <a:srgbClr val="F5AB0B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016603" cy="419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155516" y="2360792"/>
            <a:ext cx="9996361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6500" b="1">
                <a:solidFill>
                  <a:srgbClr val="FCFEFD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MANFAAT PENELITIAN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21061" y="4233224"/>
            <a:ext cx="3312427" cy="90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3"/>
              </a:lnSpc>
            </a:pPr>
            <a:r>
              <a:rPr lang="en-US" sz="3503" b="1">
                <a:solidFill>
                  <a:srgbClr val="000000"/>
                </a:solidFill>
                <a:latin typeface="Sukar Heavy"/>
                <a:ea typeface="Sukar Heavy"/>
                <a:cs typeface="Sukar Heavy"/>
                <a:sym typeface="Sukar Heavy"/>
              </a:rPr>
              <a:t>Manfaat Bagi Penulis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06560" y="4233224"/>
            <a:ext cx="3494272" cy="90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3"/>
              </a:lnSpc>
            </a:pPr>
            <a:r>
              <a:rPr lang="en-US" sz="3503" b="1">
                <a:solidFill>
                  <a:srgbClr val="000000"/>
                </a:solidFill>
                <a:latin typeface="Sukar Heavy"/>
                <a:ea typeface="Sukar Heavy"/>
                <a:cs typeface="Sukar Heavy"/>
                <a:sym typeface="Sukar Heavy"/>
              </a:rPr>
              <a:t>Manfaat Bagi Pembaca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59850" y="4233224"/>
            <a:ext cx="3494272" cy="90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3"/>
              </a:lnSpc>
            </a:pPr>
            <a:r>
              <a:rPr lang="en-US" sz="3503" b="1">
                <a:solidFill>
                  <a:srgbClr val="000000"/>
                </a:solidFill>
                <a:latin typeface="Sukar Heavy"/>
                <a:ea typeface="Sukar Heavy"/>
                <a:cs typeface="Sukar Heavy"/>
                <a:sym typeface="Sukar Heavy"/>
              </a:rPr>
              <a:t>Manfaat Bagi Objek Penelitian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41023" y="5902598"/>
            <a:ext cx="4272502" cy="3097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Memberikan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pengalaman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praktis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kepada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penulis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dalam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menerapkan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teori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dan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metode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perancangan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sistem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informasi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berbasis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web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menggunakan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teknologi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modern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seperti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Next.js dan Firebase.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06572" y="5712098"/>
            <a:ext cx="4272502" cy="3097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Menjadi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referensi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bagi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mahasiswa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atau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pihak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lain yang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tertarik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dalam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pengembangan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website company profile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menggunakan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framework JavaScript modern dan Firebase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sebagai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backend.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574474" y="5712098"/>
            <a:ext cx="3857568" cy="3866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Membantu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TAO MANULLANG &amp; Partners Law Firm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dalam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memperluas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jangkauan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klien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secara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digital,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meningkatkan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citra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profesional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firma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,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serta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menyediakan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wadah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publikasi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berita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hukum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yang </a:t>
            </a:r>
            <a:r>
              <a:rPr lang="en-US" sz="3000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terstruktur</a:t>
            </a:r>
            <a:r>
              <a:rPr lang="en-US" sz="3000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1580" y="-2280737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-5400000" flipH="1">
            <a:off x="13889068" y="5987800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 rot="-10800000">
            <a:off x="14418840" y="7843979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 rot="-8586571" flipH="1">
            <a:off x="-2791741" y="8811023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 rot="2213428" flipH="1">
            <a:off x="13329770" y="-1149071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 rot="-5832155">
            <a:off x="-2643337" y="5103858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0" y="0"/>
                </a:moveTo>
                <a:lnTo>
                  <a:pt x="8784254" y="0"/>
                </a:lnTo>
                <a:lnTo>
                  <a:pt x="8784254" y="9013694"/>
                </a:lnTo>
                <a:lnTo>
                  <a:pt x="0" y="9013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 rot="-5832155" flipH="1" flipV="1">
            <a:off x="12147083" y="-3830552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8784254" y="9013694"/>
                </a:moveTo>
                <a:lnTo>
                  <a:pt x="0" y="9013694"/>
                </a:lnTo>
                <a:lnTo>
                  <a:pt x="0" y="0"/>
                </a:lnTo>
                <a:lnTo>
                  <a:pt x="8784254" y="0"/>
                </a:lnTo>
                <a:lnTo>
                  <a:pt x="8784254" y="9013694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9" name="Group 9"/>
          <p:cNvGrpSpPr/>
          <p:nvPr/>
        </p:nvGrpSpPr>
        <p:grpSpPr>
          <a:xfrm>
            <a:off x="129501" y="163453"/>
            <a:ext cx="9262643" cy="1052603"/>
            <a:chOff x="0" y="0"/>
            <a:chExt cx="12350191" cy="14034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87877" cy="1403471"/>
            </a:xfrm>
            <a:custGeom>
              <a:avLst/>
              <a:gdLst/>
              <a:ahLst/>
              <a:cxnLst/>
              <a:rect l="l" t="t" r="r" b="b"/>
              <a:pathLst>
                <a:path w="1387877" h="1403471">
                  <a:moveTo>
                    <a:pt x="0" y="0"/>
                  </a:moveTo>
                  <a:lnTo>
                    <a:pt x="1387877" y="0"/>
                  </a:lnTo>
                  <a:lnTo>
                    <a:pt x="1387877" y="1403471"/>
                  </a:lnTo>
                  <a:lnTo>
                    <a:pt x="0" y="140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40277" y="425447"/>
              <a:ext cx="10809914" cy="595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8"/>
                </a:lnSpc>
              </a:pPr>
              <a:r>
                <a:rPr lang="en-US" sz="3107" b="1">
                  <a:solidFill>
                    <a:srgbClr val="FCFEFD"/>
                  </a:solidFill>
                  <a:latin typeface="Sukar Heavy"/>
                  <a:ea typeface="Sukar Heavy"/>
                  <a:cs typeface="Sukar Heavy"/>
                  <a:sym typeface="Sukar Heavy"/>
                </a:rPr>
                <a:t>UNIVERSITAS LANCANG KUNING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740106" y="5589857"/>
            <a:ext cx="940944" cy="740780"/>
          </a:xfrm>
          <a:custGeom>
            <a:avLst/>
            <a:gdLst/>
            <a:ahLst/>
            <a:cxnLst/>
            <a:rect l="l" t="t" r="r" b="b"/>
            <a:pathLst>
              <a:path w="940944" h="740780">
                <a:moveTo>
                  <a:pt x="0" y="0"/>
                </a:moveTo>
                <a:lnTo>
                  <a:pt x="940945" y="0"/>
                </a:lnTo>
                <a:lnTo>
                  <a:pt x="940945" y="740780"/>
                </a:lnTo>
                <a:lnTo>
                  <a:pt x="0" y="740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1042133" y="3193263"/>
            <a:ext cx="592357" cy="1008268"/>
          </a:xfrm>
          <a:custGeom>
            <a:avLst/>
            <a:gdLst/>
            <a:ahLst/>
            <a:cxnLst/>
            <a:rect l="l" t="t" r="r" b="b"/>
            <a:pathLst>
              <a:path w="592357" h="1008268">
                <a:moveTo>
                  <a:pt x="0" y="0"/>
                </a:moveTo>
                <a:lnTo>
                  <a:pt x="592357" y="0"/>
                </a:lnTo>
                <a:lnTo>
                  <a:pt x="592357" y="1008267"/>
                </a:lnTo>
                <a:lnTo>
                  <a:pt x="0" y="10082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12545210" y="2974341"/>
            <a:ext cx="5590763" cy="3457054"/>
          </a:xfrm>
          <a:custGeom>
            <a:avLst/>
            <a:gdLst/>
            <a:ahLst/>
            <a:cxnLst/>
            <a:rect l="l" t="t" r="r" b="b"/>
            <a:pathLst>
              <a:path w="5590763" h="3457054">
                <a:moveTo>
                  <a:pt x="0" y="0"/>
                </a:moveTo>
                <a:lnTo>
                  <a:pt x="5590763" y="0"/>
                </a:lnTo>
                <a:lnTo>
                  <a:pt x="5590763" y="3457054"/>
                </a:lnTo>
                <a:lnTo>
                  <a:pt x="0" y="34570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322043" y="1763282"/>
            <a:ext cx="11964845" cy="753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3"/>
              </a:lnSpc>
            </a:pPr>
            <a:r>
              <a:rPr lang="en-US" sz="5673" b="1">
                <a:solidFill>
                  <a:srgbClr val="FCFEFD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LOKASI DAN WAKTU PENELITIAN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30460" y="3418546"/>
            <a:ext cx="9734169" cy="1284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13"/>
              </a:lnSpc>
            </a:pPr>
            <a:r>
              <a:rPr lang="en-US" sz="3313" b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Penelitian dilakukan di TAO MANULLANG &amp; Partners Law Firm yang beralamat di The Habibie Center Lantai 1, Jl. Kemang Selatan No. 98, Jakarta Selatan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30460" y="5439348"/>
            <a:ext cx="9734169" cy="1284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13"/>
              </a:lnSpc>
            </a:pPr>
            <a:r>
              <a:rPr lang="en-US" sz="3313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Waktu </a:t>
            </a:r>
            <a:r>
              <a:rPr lang="en-US" sz="3313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pelaksanaan</a:t>
            </a:r>
            <a:r>
              <a:rPr lang="en-US" sz="3313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313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Praktek</a:t>
            </a:r>
            <a:r>
              <a:rPr lang="en-US" sz="3313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313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Kerja</a:t>
            </a:r>
            <a:r>
              <a:rPr lang="en-US" sz="3313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313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Lapangan</a:t>
            </a:r>
            <a:r>
              <a:rPr lang="en-US" sz="3313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313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berlangsung</a:t>
            </a:r>
            <a:r>
              <a:rPr lang="en-US" sz="3313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313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selama</a:t>
            </a:r>
            <a:r>
              <a:rPr lang="en-US" sz="3313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3 </a:t>
            </a:r>
            <a:r>
              <a:rPr lang="en-US" sz="3313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bulan</a:t>
            </a:r>
            <a:r>
              <a:rPr lang="en-US" sz="3313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, </a:t>
            </a:r>
            <a:r>
              <a:rPr lang="en-US" sz="3313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yaitu</a:t>
            </a:r>
            <a:r>
              <a:rPr lang="en-US" sz="3313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313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bulan</a:t>
            </a:r>
            <a:r>
              <a:rPr lang="en-US" sz="3313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April </a:t>
            </a:r>
            <a:r>
              <a:rPr lang="en-US" sz="3313" b="1" dirty="0" err="1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Hingga</a:t>
            </a:r>
            <a:r>
              <a:rPr lang="en-US" sz="3313" b="1" dirty="0">
                <a:solidFill>
                  <a:srgbClr val="FCFEFD"/>
                </a:solidFill>
                <a:latin typeface="Sukar Bold"/>
                <a:ea typeface="Sukar Bold"/>
                <a:cs typeface="Sukar Bold"/>
                <a:sym typeface="Sukar Bold"/>
              </a:rPr>
              <a:t> Juni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1580" y="-2280737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-5400000" flipH="1">
            <a:off x="13889068" y="5987800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 rot="-10800000">
            <a:off x="14418840" y="7843979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 rot="-8586571" flipH="1">
            <a:off x="-2791741" y="8811023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 rot="2213428" flipH="1">
            <a:off x="13329770" y="-1149071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 rot="-5832155">
            <a:off x="-2643337" y="5103858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0" y="0"/>
                </a:moveTo>
                <a:lnTo>
                  <a:pt x="8784254" y="0"/>
                </a:lnTo>
                <a:lnTo>
                  <a:pt x="8784254" y="9013694"/>
                </a:lnTo>
                <a:lnTo>
                  <a:pt x="0" y="9013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 rot="-5832155" flipH="1" flipV="1">
            <a:off x="12147083" y="-3830552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8784254" y="9013694"/>
                </a:moveTo>
                <a:lnTo>
                  <a:pt x="0" y="9013694"/>
                </a:lnTo>
                <a:lnTo>
                  <a:pt x="0" y="0"/>
                </a:lnTo>
                <a:lnTo>
                  <a:pt x="8784254" y="0"/>
                </a:lnTo>
                <a:lnTo>
                  <a:pt x="8784254" y="9013694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9" name="Group 9"/>
          <p:cNvGrpSpPr/>
          <p:nvPr/>
        </p:nvGrpSpPr>
        <p:grpSpPr>
          <a:xfrm>
            <a:off x="129501" y="163453"/>
            <a:ext cx="9262643" cy="1052603"/>
            <a:chOff x="0" y="0"/>
            <a:chExt cx="12350191" cy="14034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87877" cy="1403471"/>
            </a:xfrm>
            <a:custGeom>
              <a:avLst/>
              <a:gdLst/>
              <a:ahLst/>
              <a:cxnLst/>
              <a:rect l="l" t="t" r="r" b="b"/>
              <a:pathLst>
                <a:path w="1387877" h="1403471">
                  <a:moveTo>
                    <a:pt x="0" y="0"/>
                  </a:moveTo>
                  <a:lnTo>
                    <a:pt x="1387877" y="0"/>
                  </a:lnTo>
                  <a:lnTo>
                    <a:pt x="1387877" y="1403471"/>
                  </a:lnTo>
                  <a:lnTo>
                    <a:pt x="0" y="140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40277" y="425447"/>
              <a:ext cx="10809914" cy="595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8"/>
                </a:lnSpc>
              </a:pPr>
              <a:r>
                <a:rPr lang="en-US" sz="3107" b="1">
                  <a:solidFill>
                    <a:srgbClr val="FCFEFD"/>
                  </a:solidFill>
                  <a:latin typeface="Sukar Heavy"/>
                  <a:ea typeface="Sukar Heavy"/>
                  <a:cs typeface="Sukar Heavy"/>
                  <a:sym typeface="Sukar Heavy"/>
                </a:rPr>
                <a:t>UNIVERSITAS LANCANG KUNING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783417" y="1181100"/>
            <a:ext cx="10721165" cy="980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73"/>
              </a:lnSpc>
            </a:pPr>
            <a:r>
              <a:rPr lang="en-US" sz="7473" b="1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TAHAPAN PENELITIAN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AF091FA-C9DC-9166-98A3-16DD4329E3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65807" y="2345848"/>
            <a:ext cx="7163013" cy="71630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1580" y="-2280737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-5400000" flipH="1">
            <a:off x="13889068" y="5987800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 rot="-10800000">
            <a:off x="14418840" y="7843979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 rot="2213428" flipH="1">
            <a:off x="13329770" y="-1149071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 rot="-5832155">
            <a:off x="-2643337" y="5103858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0" y="0"/>
                </a:moveTo>
                <a:lnTo>
                  <a:pt x="8784254" y="0"/>
                </a:lnTo>
                <a:lnTo>
                  <a:pt x="8784254" y="9013694"/>
                </a:lnTo>
                <a:lnTo>
                  <a:pt x="0" y="9013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 rot="-5832155" flipH="1" flipV="1">
            <a:off x="12147083" y="-3830552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8784254" y="9013694"/>
                </a:moveTo>
                <a:lnTo>
                  <a:pt x="0" y="9013694"/>
                </a:lnTo>
                <a:lnTo>
                  <a:pt x="0" y="0"/>
                </a:lnTo>
                <a:lnTo>
                  <a:pt x="8784254" y="0"/>
                </a:lnTo>
                <a:lnTo>
                  <a:pt x="8784254" y="9013694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9" name="Group 9"/>
          <p:cNvGrpSpPr/>
          <p:nvPr/>
        </p:nvGrpSpPr>
        <p:grpSpPr>
          <a:xfrm>
            <a:off x="129501" y="163453"/>
            <a:ext cx="9262643" cy="1052603"/>
            <a:chOff x="0" y="0"/>
            <a:chExt cx="12350191" cy="14034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87877" cy="1403471"/>
            </a:xfrm>
            <a:custGeom>
              <a:avLst/>
              <a:gdLst/>
              <a:ahLst/>
              <a:cxnLst/>
              <a:rect l="l" t="t" r="r" b="b"/>
              <a:pathLst>
                <a:path w="1387877" h="1403471">
                  <a:moveTo>
                    <a:pt x="0" y="0"/>
                  </a:moveTo>
                  <a:lnTo>
                    <a:pt x="1387877" y="0"/>
                  </a:lnTo>
                  <a:lnTo>
                    <a:pt x="1387877" y="1403471"/>
                  </a:lnTo>
                  <a:lnTo>
                    <a:pt x="0" y="140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40277" y="425447"/>
              <a:ext cx="10809914" cy="595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8"/>
                </a:lnSpc>
              </a:pPr>
              <a:r>
                <a:rPr lang="en-US" sz="3107" b="1">
                  <a:solidFill>
                    <a:srgbClr val="FCFEFD"/>
                  </a:solidFill>
                  <a:latin typeface="Sukar Heavy"/>
                  <a:ea typeface="Sukar Heavy"/>
                  <a:cs typeface="Sukar Heavy"/>
                  <a:sym typeface="Sukar Heavy"/>
                </a:rPr>
                <a:t>UNIVERSITAS LANCANG KUNING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24815" y="1613491"/>
            <a:ext cx="12015619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METODOLOGI PENELITIAN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9955" y="3391940"/>
            <a:ext cx="8556812" cy="5838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Metode Prototyping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merupakan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pendekatan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pengembangan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sistem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dimana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pengembang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membangun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prototipe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atau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model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awal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terlebih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dahulu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,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kemudian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ditunjukkan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kepada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pengguna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untuk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dievaluasi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.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Berdasarkan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umpan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balik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yang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diterima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,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prototipe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diperbaiki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secara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berulang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sampai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sesuai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dengan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kebutuhan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yang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diharapkan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.</a:t>
            </a:r>
          </a:p>
          <a:p>
            <a:pPr algn="just">
              <a:lnSpc>
                <a:spcPts val="3500"/>
              </a:lnSpc>
            </a:pPr>
            <a:endParaRPr lang="en-US" sz="3000" b="1" dirty="0">
              <a:solidFill>
                <a:srgbClr val="FFFFFF"/>
              </a:solidFill>
              <a:latin typeface="Sukar Bold"/>
              <a:ea typeface="Sukar Bold"/>
              <a:cs typeface="Sukar Bold"/>
              <a:sym typeface="Sukar Bold"/>
            </a:endParaRPr>
          </a:p>
          <a:p>
            <a:pPr algn="just">
              <a:lnSpc>
                <a:spcPts val="3500"/>
              </a:lnSpc>
            </a:pP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Metode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ini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dipilih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karena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sangat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cocok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untuk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proyek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website company profile di mana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kebutuhan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desain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visual dan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pengalaman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pengguna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memerlukan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umpan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balik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langsung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dari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pihak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firma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secara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berkala</a:t>
            </a:r>
            <a:r>
              <a:rPr lang="en-US" sz="3000" b="1" dirty="0">
                <a:solidFill>
                  <a:srgbClr val="FFFFFF"/>
                </a:solidFill>
                <a:latin typeface="Sukar Bold"/>
                <a:ea typeface="Sukar Bold"/>
                <a:cs typeface="Sukar Bold"/>
                <a:sym typeface="Sukar Bold"/>
              </a:rPr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7766F6E-B985-CFEA-5DD4-526541EA58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3409" y="2674979"/>
            <a:ext cx="7171734" cy="71717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1580" y="-2280737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-5400000" flipH="1">
            <a:off x="13889068" y="5987800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 rot="-10800000">
            <a:off x="14418840" y="7843979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 rot="-8586571" flipH="1">
            <a:off x="-2791741" y="8811023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 rot="2213428" flipH="1">
            <a:off x="13329770" y="-1149071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 rot="-5832155">
            <a:off x="-2643337" y="5103858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0" y="0"/>
                </a:moveTo>
                <a:lnTo>
                  <a:pt x="8784254" y="0"/>
                </a:lnTo>
                <a:lnTo>
                  <a:pt x="8784254" y="9013694"/>
                </a:lnTo>
                <a:lnTo>
                  <a:pt x="0" y="9013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 rot="-5832155" flipH="1" flipV="1">
            <a:off x="12147083" y="-3830552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8784254" y="9013694"/>
                </a:moveTo>
                <a:lnTo>
                  <a:pt x="0" y="9013694"/>
                </a:lnTo>
                <a:lnTo>
                  <a:pt x="0" y="0"/>
                </a:lnTo>
                <a:lnTo>
                  <a:pt x="8784254" y="0"/>
                </a:lnTo>
                <a:lnTo>
                  <a:pt x="8784254" y="9013694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9" name="Group 9"/>
          <p:cNvGrpSpPr/>
          <p:nvPr/>
        </p:nvGrpSpPr>
        <p:grpSpPr>
          <a:xfrm>
            <a:off x="129501" y="163453"/>
            <a:ext cx="9262643" cy="1052603"/>
            <a:chOff x="0" y="0"/>
            <a:chExt cx="12350191" cy="14034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87877" cy="1403471"/>
            </a:xfrm>
            <a:custGeom>
              <a:avLst/>
              <a:gdLst/>
              <a:ahLst/>
              <a:cxnLst/>
              <a:rect l="l" t="t" r="r" b="b"/>
              <a:pathLst>
                <a:path w="1387877" h="1403471">
                  <a:moveTo>
                    <a:pt x="0" y="0"/>
                  </a:moveTo>
                  <a:lnTo>
                    <a:pt x="1387877" y="0"/>
                  </a:lnTo>
                  <a:lnTo>
                    <a:pt x="1387877" y="1403471"/>
                  </a:lnTo>
                  <a:lnTo>
                    <a:pt x="0" y="140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40277" y="425447"/>
              <a:ext cx="10809914" cy="595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8"/>
                </a:lnSpc>
              </a:pPr>
              <a:r>
                <a:rPr lang="en-US" sz="3107" b="1">
                  <a:solidFill>
                    <a:srgbClr val="FCFEFD"/>
                  </a:solidFill>
                  <a:latin typeface="Sukar Heavy"/>
                  <a:ea typeface="Sukar Heavy"/>
                  <a:cs typeface="Sukar Heavy"/>
                  <a:sym typeface="Sukar Heavy"/>
                </a:rPr>
                <a:t>UNIVERSITAS LANCANG KUNING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024415" y="1057275"/>
            <a:ext cx="12919253" cy="788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00"/>
              </a:lnSpc>
            </a:pPr>
            <a:r>
              <a:rPr lang="en-US" sz="5900" b="1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SISTEM YANG SEDANG BERJALAN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14120" y="3829379"/>
            <a:ext cx="7669921" cy="5101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99"/>
              </a:lnSpc>
            </a:pP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Sistem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penyampaian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informasi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profil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di TAO MANULLANG &amp; Partners Law Firm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saat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ini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masih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bersifat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konvensional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.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Profil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firma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dikirim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dalam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bentuk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brosur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cetak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atau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file PDF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secara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manual via email.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Setiap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ada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perubahan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informasi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,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dokumen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harus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diperbarui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dan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didistribusikan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kembali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.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Publikasi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kegiatan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hukum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tersebar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di media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sosial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tanpa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pusat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informasi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resmi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yang </a:t>
            </a:r>
            <a:r>
              <a:rPr lang="en-US" sz="3599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terstruktur</a:t>
            </a:r>
            <a:r>
              <a:rPr lang="en-US" sz="3599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97C750-BCB1-6365-4DA3-D38D4758FA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7579" y="2093607"/>
            <a:ext cx="8024668" cy="80246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1580" y="-2280737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-5400000" flipH="1">
            <a:off x="13889068" y="5987800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 rot="-10800000">
            <a:off x="14418840" y="7843979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 rot="-8586571" flipH="1">
            <a:off x="-2791741" y="8811023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 rot="2213428" flipH="1">
            <a:off x="13329770" y="-1149071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 rot="-5832155">
            <a:off x="-2643337" y="5103858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0" y="0"/>
                </a:moveTo>
                <a:lnTo>
                  <a:pt x="8784254" y="0"/>
                </a:lnTo>
                <a:lnTo>
                  <a:pt x="8784254" y="9013694"/>
                </a:lnTo>
                <a:lnTo>
                  <a:pt x="0" y="9013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 rot="-5832155" flipH="1" flipV="1">
            <a:off x="12147083" y="-3830552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8784254" y="9013694"/>
                </a:moveTo>
                <a:lnTo>
                  <a:pt x="0" y="9013694"/>
                </a:lnTo>
                <a:lnTo>
                  <a:pt x="0" y="0"/>
                </a:lnTo>
                <a:lnTo>
                  <a:pt x="8784254" y="0"/>
                </a:lnTo>
                <a:lnTo>
                  <a:pt x="8784254" y="9013694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9" name="Group 9"/>
          <p:cNvGrpSpPr/>
          <p:nvPr/>
        </p:nvGrpSpPr>
        <p:grpSpPr>
          <a:xfrm>
            <a:off x="129501" y="163453"/>
            <a:ext cx="9262643" cy="1052603"/>
            <a:chOff x="0" y="0"/>
            <a:chExt cx="12350191" cy="14034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87877" cy="1403471"/>
            </a:xfrm>
            <a:custGeom>
              <a:avLst/>
              <a:gdLst/>
              <a:ahLst/>
              <a:cxnLst/>
              <a:rect l="l" t="t" r="r" b="b"/>
              <a:pathLst>
                <a:path w="1387877" h="1403471">
                  <a:moveTo>
                    <a:pt x="0" y="0"/>
                  </a:moveTo>
                  <a:lnTo>
                    <a:pt x="1387877" y="0"/>
                  </a:lnTo>
                  <a:lnTo>
                    <a:pt x="1387877" y="1403471"/>
                  </a:lnTo>
                  <a:lnTo>
                    <a:pt x="0" y="140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40277" y="425447"/>
              <a:ext cx="10809914" cy="595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8"/>
                </a:lnSpc>
              </a:pPr>
              <a:r>
                <a:rPr lang="en-US" sz="3107" b="1">
                  <a:solidFill>
                    <a:srgbClr val="FCFEFD"/>
                  </a:solidFill>
                  <a:latin typeface="Sukar Heavy"/>
                  <a:ea typeface="Sukar Heavy"/>
                  <a:cs typeface="Sukar Heavy"/>
                  <a:sym typeface="Sukar Heavy"/>
                </a:rPr>
                <a:t>UNIVERSITAS LANCANG KUNING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03783" y="4088182"/>
            <a:ext cx="8471639" cy="4708455"/>
            <a:chOff x="0" y="0"/>
            <a:chExt cx="2231214" cy="124008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31214" cy="1240087"/>
            </a:xfrm>
            <a:custGeom>
              <a:avLst/>
              <a:gdLst/>
              <a:ahLst/>
              <a:cxnLst/>
              <a:rect l="l" t="t" r="r" b="b"/>
              <a:pathLst>
                <a:path w="2231214" h="1240087">
                  <a:moveTo>
                    <a:pt x="65798" y="0"/>
                  </a:moveTo>
                  <a:lnTo>
                    <a:pt x="2165415" y="0"/>
                  </a:lnTo>
                  <a:cubicBezTo>
                    <a:pt x="2182866" y="0"/>
                    <a:pt x="2199602" y="6932"/>
                    <a:pt x="2211942" y="19272"/>
                  </a:cubicBezTo>
                  <a:cubicBezTo>
                    <a:pt x="2224281" y="31611"/>
                    <a:pt x="2231214" y="48347"/>
                    <a:pt x="2231214" y="65798"/>
                  </a:cubicBezTo>
                  <a:lnTo>
                    <a:pt x="2231214" y="1174289"/>
                  </a:lnTo>
                  <a:cubicBezTo>
                    <a:pt x="2231214" y="1191740"/>
                    <a:pt x="2224281" y="1208476"/>
                    <a:pt x="2211942" y="1220815"/>
                  </a:cubicBezTo>
                  <a:cubicBezTo>
                    <a:pt x="2199602" y="1233155"/>
                    <a:pt x="2182866" y="1240087"/>
                    <a:pt x="2165415" y="1240087"/>
                  </a:cubicBezTo>
                  <a:lnTo>
                    <a:pt x="65798" y="1240087"/>
                  </a:lnTo>
                  <a:cubicBezTo>
                    <a:pt x="48347" y="1240087"/>
                    <a:pt x="31611" y="1233155"/>
                    <a:pt x="19272" y="1220815"/>
                  </a:cubicBezTo>
                  <a:cubicBezTo>
                    <a:pt x="6932" y="1208476"/>
                    <a:pt x="0" y="1191740"/>
                    <a:pt x="0" y="1174289"/>
                  </a:cubicBezTo>
                  <a:lnTo>
                    <a:pt x="0" y="65798"/>
                  </a:lnTo>
                  <a:cubicBezTo>
                    <a:pt x="0" y="48347"/>
                    <a:pt x="6932" y="31611"/>
                    <a:pt x="19272" y="19272"/>
                  </a:cubicBezTo>
                  <a:cubicBezTo>
                    <a:pt x="31611" y="6932"/>
                    <a:pt x="48347" y="0"/>
                    <a:pt x="65798" y="0"/>
                  </a:cubicBezTo>
                  <a:close/>
                </a:path>
              </a:pathLst>
            </a:custGeom>
            <a:solidFill>
              <a:srgbClr val="002C4F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231214" cy="1278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20878" y="1695130"/>
            <a:ext cx="11397829" cy="891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600" b="1" dirty="0">
                <a:solidFill>
                  <a:srgbClr val="FCFEFD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SISTEM YANG DI USULKAN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4955" y="3625459"/>
            <a:ext cx="8471638" cy="46436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036"/>
              </a:lnSpc>
            </a:pPr>
            <a:r>
              <a:rPr lang="en-US" sz="4036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Use Case Diagram </a:t>
            </a:r>
            <a:r>
              <a:rPr lang="en-US" sz="4036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menggambarkan</a:t>
            </a:r>
            <a:r>
              <a:rPr lang="en-US" sz="4036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4036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interaksi</a:t>
            </a:r>
            <a:r>
              <a:rPr lang="en-US" sz="4036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dua </a:t>
            </a:r>
            <a:r>
              <a:rPr lang="en-US" sz="4036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aktor</a:t>
            </a:r>
            <a:r>
              <a:rPr lang="en-US" sz="4036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4036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utama</a:t>
            </a:r>
            <a:r>
              <a:rPr lang="en-US" sz="4036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4036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dengan</a:t>
            </a:r>
            <a:r>
              <a:rPr lang="en-US" sz="4036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4036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sistem</a:t>
            </a:r>
            <a:r>
              <a:rPr lang="en-US" sz="4036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. </a:t>
            </a:r>
            <a:r>
              <a:rPr lang="en-US" sz="4036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Pengunjung</a:t>
            </a:r>
            <a:r>
              <a:rPr lang="en-US" sz="4036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4036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dapat</a:t>
            </a:r>
            <a:r>
              <a:rPr lang="en-US" sz="4036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4036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mengakses</a:t>
            </a:r>
            <a:r>
              <a:rPr lang="en-US" sz="4036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4036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profil</a:t>
            </a:r>
            <a:r>
              <a:rPr lang="en-US" sz="4036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4036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firma</a:t>
            </a:r>
            <a:r>
              <a:rPr lang="en-US" sz="4036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, </a:t>
            </a:r>
            <a:r>
              <a:rPr lang="en-US" sz="4036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melihat</a:t>
            </a:r>
            <a:r>
              <a:rPr lang="en-US" sz="4036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4036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tim</a:t>
            </a:r>
            <a:r>
              <a:rPr lang="en-US" sz="4036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4036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pengacara</a:t>
            </a:r>
            <a:r>
              <a:rPr lang="en-US" sz="4036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, </a:t>
            </a:r>
            <a:r>
              <a:rPr lang="en-US" sz="4036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membaca</a:t>
            </a:r>
            <a:r>
              <a:rPr lang="en-US" sz="4036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4036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berita</a:t>
            </a:r>
            <a:r>
              <a:rPr lang="en-US" sz="4036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4036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hukum</a:t>
            </a:r>
            <a:r>
              <a:rPr lang="en-US" sz="4036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, dan </a:t>
            </a:r>
            <a:r>
              <a:rPr lang="en-US" sz="4036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mengirim</a:t>
            </a:r>
            <a:r>
              <a:rPr lang="en-US" sz="4036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4036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pesan</a:t>
            </a:r>
            <a:r>
              <a:rPr lang="en-US" sz="4036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4036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konsultasi</a:t>
            </a:r>
            <a:r>
              <a:rPr lang="en-US" sz="4036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. Admin </a:t>
            </a:r>
            <a:r>
              <a:rPr lang="en-US" sz="4036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dapat</a:t>
            </a:r>
            <a:r>
              <a:rPr lang="en-US" sz="4036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4036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melakukan</a:t>
            </a:r>
            <a:r>
              <a:rPr lang="en-US" sz="4036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login, </a:t>
            </a:r>
            <a:r>
              <a:rPr lang="en-US" sz="4036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mengakses</a:t>
            </a:r>
            <a:r>
              <a:rPr lang="en-US" sz="4036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dashboard, </a:t>
            </a:r>
            <a:r>
              <a:rPr lang="en-US" sz="4036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serta</a:t>
            </a:r>
            <a:r>
              <a:rPr lang="en-US" sz="4036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4036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mengelola</a:t>
            </a:r>
            <a:r>
              <a:rPr lang="en-US" sz="4036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</a:t>
            </a:r>
            <a:r>
              <a:rPr lang="en-US" sz="4036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berita</a:t>
            </a:r>
            <a:r>
              <a:rPr lang="en-US" sz="4036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 (</a:t>
            </a:r>
            <a:r>
              <a:rPr lang="en-US" sz="4036" dirty="0" err="1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tambah</a:t>
            </a:r>
            <a:r>
              <a:rPr lang="en-US" sz="4036" dirty="0">
                <a:solidFill>
                  <a:srgbClr val="FFFFFF"/>
                </a:solidFill>
                <a:latin typeface="Sukar"/>
                <a:ea typeface="Sukar"/>
                <a:cs typeface="Sukar"/>
                <a:sym typeface="Sukar"/>
              </a:rPr>
              <a:t>, edit, hapus).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03783" y="3320095"/>
            <a:ext cx="4683840" cy="469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3"/>
              </a:lnSpc>
            </a:pPr>
            <a:r>
              <a:rPr lang="en-US" sz="3503" b="1">
                <a:solidFill>
                  <a:srgbClr val="002C4F"/>
                </a:solidFill>
                <a:latin typeface="Sukar Heavy"/>
                <a:ea typeface="Sukar Heavy"/>
                <a:cs typeface="Sukar Heavy"/>
                <a:sym typeface="Sukar Heavy"/>
              </a:rPr>
              <a:t>Use Case Diagram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CD323C2-995B-1FFF-83A9-0E7AACFCAB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1678" y="2691315"/>
            <a:ext cx="7465050" cy="7215277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1242D6B9-C322-74CD-7526-6D9785070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848" y="2503082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Use Case Diagram</a:t>
            </a:r>
            <a:endParaRPr lang="en-ID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1580" y="-2280737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-5400000" flipH="1">
            <a:off x="13889068" y="5987800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 rot="-10800000">
            <a:off x="14418840" y="7843979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 rot="-8586571" flipH="1">
            <a:off x="-2791741" y="8811023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 rot="2213428" flipH="1">
            <a:off x="13329770" y="-1149071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 rot="-5832155">
            <a:off x="-2643337" y="5103858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0" y="0"/>
                </a:moveTo>
                <a:lnTo>
                  <a:pt x="8784254" y="0"/>
                </a:lnTo>
                <a:lnTo>
                  <a:pt x="8784254" y="9013694"/>
                </a:lnTo>
                <a:lnTo>
                  <a:pt x="0" y="9013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 rot="-5832155" flipH="1" flipV="1">
            <a:off x="12147083" y="-3830552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8784254" y="9013694"/>
                </a:moveTo>
                <a:lnTo>
                  <a:pt x="0" y="9013694"/>
                </a:lnTo>
                <a:lnTo>
                  <a:pt x="0" y="0"/>
                </a:lnTo>
                <a:lnTo>
                  <a:pt x="8784254" y="0"/>
                </a:lnTo>
                <a:lnTo>
                  <a:pt x="8784254" y="9013694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9" name="Group 9"/>
          <p:cNvGrpSpPr/>
          <p:nvPr/>
        </p:nvGrpSpPr>
        <p:grpSpPr>
          <a:xfrm>
            <a:off x="129501" y="163453"/>
            <a:ext cx="9262643" cy="1052603"/>
            <a:chOff x="0" y="0"/>
            <a:chExt cx="12350191" cy="14034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87877" cy="1403471"/>
            </a:xfrm>
            <a:custGeom>
              <a:avLst/>
              <a:gdLst/>
              <a:ahLst/>
              <a:cxnLst/>
              <a:rect l="l" t="t" r="r" b="b"/>
              <a:pathLst>
                <a:path w="1387877" h="1403471">
                  <a:moveTo>
                    <a:pt x="0" y="0"/>
                  </a:moveTo>
                  <a:lnTo>
                    <a:pt x="1387877" y="0"/>
                  </a:lnTo>
                  <a:lnTo>
                    <a:pt x="1387877" y="1403471"/>
                  </a:lnTo>
                  <a:lnTo>
                    <a:pt x="0" y="140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40277" y="425447"/>
              <a:ext cx="10809914" cy="595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8"/>
                </a:lnSpc>
              </a:pPr>
              <a:r>
                <a:rPr lang="en-US" sz="3107" b="1">
                  <a:solidFill>
                    <a:srgbClr val="FCFEFD"/>
                  </a:solidFill>
                  <a:latin typeface="Sukar Heavy"/>
                  <a:ea typeface="Sukar Heavy"/>
                  <a:cs typeface="Sukar Heavy"/>
                  <a:sym typeface="Sukar Heavy"/>
                </a:rPr>
                <a:t>UNIVERSITAS LANCANG KUNING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03783" y="4088182"/>
            <a:ext cx="8471639" cy="4708455"/>
            <a:chOff x="0" y="0"/>
            <a:chExt cx="2231214" cy="124008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31214" cy="1240087"/>
            </a:xfrm>
            <a:custGeom>
              <a:avLst/>
              <a:gdLst/>
              <a:ahLst/>
              <a:cxnLst/>
              <a:rect l="l" t="t" r="r" b="b"/>
              <a:pathLst>
                <a:path w="2231214" h="1240087">
                  <a:moveTo>
                    <a:pt x="65798" y="0"/>
                  </a:moveTo>
                  <a:lnTo>
                    <a:pt x="2165415" y="0"/>
                  </a:lnTo>
                  <a:cubicBezTo>
                    <a:pt x="2182866" y="0"/>
                    <a:pt x="2199602" y="6932"/>
                    <a:pt x="2211942" y="19272"/>
                  </a:cubicBezTo>
                  <a:cubicBezTo>
                    <a:pt x="2224281" y="31611"/>
                    <a:pt x="2231214" y="48347"/>
                    <a:pt x="2231214" y="65798"/>
                  </a:cubicBezTo>
                  <a:lnTo>
                    <a:pt x="2231214" y="1174289"/>
                  </a:lnTo>
                  <a:cubicBezTo>
                    <a:pt x="2231214" y="1191740"/>
                    <a:pt x="2224281" y="1208476"/>
                    <a:pt x="2211942" y="1220815"/>
                  </a:cubicBezTo>
                  <a:cubicBezTo>
                    <a:pt x="2199602" y="1233155"/>
                    <a:pt x="2182866" y="1240087"/>
                    <a:pt x="2165415" y="1240087"/>
                  </a:cubicBezTo>
                  <a:lnTo>
                    <a:pt x="65798" y="1240087"/>
                  </a:lnTo>
                  <a:cubicBezTo>
                    <a:pt x="48347" y="1240087"/>
                    <a:pt x="31611" y="1233155"/>
                    <a:pt x="19272" y="1220815"/>
                  </a:cubicBezTo>
                  <a:cubicBezTo>
                    <a:pt x="6932" y="1208476"/>
                    <a:pt x="0" y="1191740"/>
                    <a:pt x="0" y="1174289"/>
                  </a:cubicBezTo>
                  <a:lnTo>
                    <a:pt x="0" y="65798"/>
                  </a:lnTo>
                  <a:cubicBezTo>
                    <a:pt x="0" y="48347"/>
                    <a:pt x="6932" y="31611"/>
                    <a:pt x="19272" y="19272"/>
                  </a:cubicBezTo>
                  <a:cubicBezTo>
                    <a:pt x="31611" y="6932"/>
                    <a:pt x="48347" y="0"/>
                    <a:pt x="65798" y="0"/>
                  </a:cubicBezTo>
                  <a:close/>
                </a:path>
              </a:pathLst>
            </a:custGeom>
            <a:solidFill>
              <a:srgbClr val="002C4F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231214" cy="1278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20878" y="1695130"/>
            <a:ext cx="11397829" cy="891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600" b="1">
                <a:solidFill>
                  <a:srgbClr val="FCFEFD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SISTEM YANG DI USULKAN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27690" y="3211926"/>
            <a:ext cx="5265446" cy="920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3"/>
              </a:lnSpc>
            </a:pPr>
            <a:r>
              <a:rPr lang="en-US" sz="3503" b="1" dirty="0">
                <a:solidFill>
                  <a:srgbClr val="FFFFFF"/>
                </a:solidFill>
                <a:latin typeface="Sukar Heavy"/>
                <a:ea typeface="Sukar Heavy"/>
                <a:cs typeface="Sukar Heavy"/>
                <a:sym typeface="Sukar Heavy"/>
              </a:rPr>
              <a:t>Activity Diagram</a:t>
            </a:r>
          </a:p>
          <a:p>
            <a:pPr algn="ctr">
              <a:lnSpc>
                <a:spcPts val="3503"/>
              </a:lnSpc>
            </a:pPr>
            <a:r>
              <a:rPr lang="en-US" sz="3503" b="1" dirty="0">
                <a:solidFill>
                  <a:srgbClr val="FFFFFF"/>
                </a:solidFill>
                <a:latin typeface="Sukar Heavy"/>
                <a:ea typeface="Sukar Heavy"/>
                <a:cs typeface="Sukar Heavy"/>
                <a:sym typeface="Sukar Heavy"/>
              </a:rPr>
              <a:t>Login Admin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945192" y="3007823"/>
            <a:ext cx="5265446" cy="920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3"/>
              </a:lnSpc>
            </a:pPr>
            <a:r>
              <a:rPr lang="en-US" sz="3503" b="1" dirty="0">
                <a:solidFill>
                  <a:srgbClr val="FFFFFF"/>
                </a:solidFill>
                <a:latin typeface="Sukar Heavy"/>
                <a:ea typeface="Sukar Heavy"/>
                <a:cs typeface="Sukar Heavy"/>
                <a:sym typeface="Sukar Heavy"/>
              </a:rPr>
              <a:t>Activity Diagram </a:t>
            </a:r>
          </a:p>
          <a:p>
            <a:pPr algn="ctr">
              <a:lnSpc>
                <a:spcPts val="3503"/>
              </a:lnSpc>
            </a:pPr>
            <a:r>
              <a:rPr lang="en-US" sz="3503" b="1" dirty="0">
                <a:solidFill>
                  <a:srgbClr val="FFFFFF"/>
                </a:solidFill>
                <a:latin typeface="Sukar Heavy"/>
                <a:ea typeface="Sukar Heavy"/>
                <a:cs typeface="Sukar Heavy"/>
                <a:sym typeface="Sukar Heavy"/>
              </a:rPr>
              <a:t>Kelola Berita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0275648-780E-D6DD-C7C8-B9B2C6ADE33E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4187" t="6695" r="4253" b="4262"/>
          <a:stretch>
            <a:fillRect/>
          </a:stretch>
        </p:blipFill>
        <p:spPr bwMode="auto">
          <a:xfrm>
            <a:off x="568483" y="4611411"/>
            <a:ext cx="8327373" cy="551555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2683EE0-A89A-CA26-0C3E-18AC2FA11B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26261" y="4551253"/>
            <a:ext cx="7103305" cy="55368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1580" y="-2280737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-5400000" flipH="1">
            <a:off x="13889068" y="5987800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 rot="-10800000">
            <a:off x="14418840" y="7843979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 rot="-8586571" flipH="1">
            <a:off x="-2791741" y="8811023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 rot="2213428" flipH="1">
            <a:off x="13329770" y="-1149071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 rot="-5832155">
            <a:off x="-2643337" y="5103858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0" y="0"/>
                </a:moveTo>
                <a:lnTo>
                  <a:pt x="8784254" y="0"/>
                </a:lnTo>
                <a:lnTo>
                  <a:pt x="8784254" y="9013694"/>
                </a:lnTo>
                <a:lnTo>
                  <a:pt x="0" y="9013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 rot="-5832155" flipH="1" flipV="1">
            <a:off x="12147083" y="-3830552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8784254" y="9013694"/>
                </a:moveTo>
                <a:lnTo>
                  <a:pt x="0" y="9013694"/>
                </a:lnTo>
                <a:lnTo>
                  <a:pt x="0" y="0"/>
                </a:lnTo>
                <a:lnTo>
                  <a:pt x="8784254" y="0"/>
                </a:lnTo>
                <a:lnTo>
                  <a:pt x="8784254" y="9013694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9" name="Group 9"/>
          <p:cNvGrpSpPr/>
          <p:nvPr/>
        </p:nvGrpSpPr>
        <p:grpSpPr>
          <a:xfrm>
            <a:off x="129501" y="163453"/>
            <a:ext cx="9262643" cy="1052603"/>
            <a:chOff x="0" y="0"/>
            <a:chExt cx="12350191" cy="14034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87877" cy="1403471"/>
            </a:xfrm>
            <a:custGeom>
              <a:avLst/>
              <a:gdLst/>
              <a:ahLst/>
              <a:cxnLst/>
              <a:rect l="l" t="t" r="r" b="b"/>
              <a:pathLst>
                <a:path w="1387877" h="1403471">
                  <a:moveTo>
                    <a:pt x="0" y="0"/>
                  </a:moveTo>
                  <a:lnTo>
                    <a:pt x="1387877" y="0"/>
                  </a:lnTo>
                  <a:lnTo>
                    <a:pt x="1387877" y="1403471"/>
                  </a:lnTo>
                  <a:lnTo>
                    <a:pt x="0" y="140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40277" y="425447"/>
              <a:ext cx="10809914" cy="595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8"/>
                </a:lnSpc>
              </a:pPr>
              <a:r>
                <a:rPr lang="en-US" sz="3107" b="1">
                  <a:solidFill>
                    <a:srgbClr val="FCFEFD"/>
                  </a:solidFill>
                  <a:latin typeface="Sukar Heavy"/>
                  <a:ea typeface="Sukar Heavy"/>
                  <a:cs typeface="Sukar Heavy"/>
                  <a:sym typeface="Sukar Heavy"/>
                </a:rPr>
                <a:t>UNIVERSITAS LANCANG KUNING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03783" y="4088182"/>
            <a:ext cx="8471639" cy="4708455"/>
            <a:chOff x="0" y="0"/>
            <a:chExt cx="2231214" cy="124008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31214" cy="1240087"/>
            </a:xfrm>
            <a:custGeom>
              <a:avLst/>
              <a:gdLst/>
              <a:ahLst/>
              <a:cxnLst/>
              <a:rect l="l" t="t" r="r" b="b"/>
              <a:pathLst>
                <a:path w="2231214" h="1240087">
                  <a:moveTo>
                    <a:pt x="65798" y="0"/>
                  </a:moveTo>
                  <a:lnTo>
                    <a:pt x="2165415" y="0"/>
                  </a:lnTo>
                  <a:cubicBezTo>
                    <a:pt x="2182866" y="0"/>
                    <a:pt x="2199602" y="6932"/>
                    <a:pt x="2211942" y="19272"/>
                  </a:cubicBezTo>
                  <a:cubicBezTo>
                    <a:pt x="2224281" y="31611"/>
                    <a:pt x="2231214" y="48347"/>
                    <a:pt x="2231214" y="65798"/>
                  </a:cubicBezTo>
                  <a:lnTo>
                    <a:pt x="2231214" y="1174289"/>
                  </a:lnTo>
                  <a:cubicBezTo>
                    <a:pt x="2231214" y="1191740"/>
                    <a:pt x="2224281" y="1208476"/>
                    <a:pt x="2211942" y="1220815"/>
                  </a:cubicBezTo>
                  <a:cubicBezTo>
                    <a:pt x="2199602" y="1233155"/>
                    <a:pt x="2182866" y="1240087"/>
                    <a:pt x="2165415" y="1240087"/>
                  </a:cubicBezTo>
                  <a:lnTo>
                    <a:pt x="65798" y="1240087"/>
                  </a:lnTo>
                  <a:cubicBezTo>
                    <a:pt x="48347" y="1240087"/>
                    <a:pt x="31611" y="1233155"/>
                    <a:pt x="19272" y="1220815"/>
                  </a:cubicBezTo>
                  <a:cubicBezTo>
                    <a:pt x="6932" y="1208476"/>
                    <a:pt x="0" y="1191740"/>
                    <a:pt x="0" y="1174289"/>
                  </a:cubicBezTo>
                  <a:lnTo>
                    <a:pt x="0" y="65798"/>
                  </a:lnTo>
                  <a:cubicBezTo>
                    <a:pt x="0" y="48347"/>
                    <a:pt x="6932" y="31611"/>
                    <a:pt x="19272" y="19272"/>
                  </a:cubicBezTo>
                  <a:cubicBezTo>
                    <a:pt x="31611" y="6932"/>
                    <a:pt x="48347" y="0"/>
                    <a:pt x="65798" y="0"/>
                  </a:cubicBezTo>
                  <a:close/>
                </a:path>
              </a:pathLst>
            </a:custGeom>
            <a:solidFill>
              <a:srgbClr val="002C4F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231214" cy="1278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20878" y="1695130"/>
            <a:ext cx="11397829" cy="891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600" b="1">
                <a:solidFill>
                  <a:srgbClr val="FCFEFD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SISTEM YANG DI USULKAN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27690" y="3211926"/>
            <a:ext cx="5265446" cy="920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3"/>
              </a:lnSpc>
            </a:pPr>
            <a:r>
              <a:rPr lang="en-US" sz="3503" b="1" dirty="0">
                <a:solidFill>
                  <a:srgbClr val="FFFFFF"/>
                </a:solidFill>
                <a:latin typeface="Sukar Heavy"/>
                <a:ea typeface="Sukar Heavy"/>
                <a:cs typeface="Sukar Heavy"/>
                <a:sym typeface="Sukar Heavy"/>
              </a:rPr>
              <a:t>Activity Diagram </a:t>
            </a:r>
            <a:r>
              <a:rPr lang="en-US" sz="3503" b="1" dirty="0" err="1">
                <a:solidFill>
                  <a:srgbClr val="FFFFFF"/>
                </a:solidFill>
                <a:latin typeface="Sukar Heavy"/>
                <a:ea typeface="Sukar Heavy"/>
                <a:cs typeface="Sukar Heavy"/>
                <a:sym typeface="Sukar Heavy"/>
              </a:rPr>
              <a:t>Mengakses</a:t>
            </a:r>
            <a:r>
              <a:rPr lang="en-US" sz="3503" b="1" dirty="0">
                <a:solidFill>
                  <a:srgbClr val="FFFFFF"/>
                </a:solidFill>
                <a:latin typeface="Sukar Heavy"/>
                <a:ea typeface="Sukar Heavy"/>
                <a:cs typeface="Sukar Heavy"/>
                <a:sym typeface="Sukar Heavy"/>
              </a:rPr>
              <a:t> Berita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945192" y="3007823"/>
            <a:ext cx="5265446" cy="90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3"/>
              </a:lnSpc>
            </a:pPr>
            <a:r>
              <a:rPr lang="en-US" sz="3503" b="1">
                <a:solidFill>
                  <a:srgbClr val="FFFFFF"/>
                </a:solidFill>
                <a:latin typeface="Sukar Heavy"/>
                <a:ea typeface="Sukar Heavy"/>
                <a:cs typeface="Sukar Heavy"/>
                <a:sym typeface="Sukar Heavy"/>
              </a:rPr>
              <a:t>Activity Diagram Mengirim Pesan Kontak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74E8C25-1355-F801-95D7-319543A66ABD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6311" t="5680" r="5805" b="2826"/>
          <a:stretch>
            <a:fillRect/>
          </a:stretch>
        </p:blipFill>
        <p:spPr bwMode="auto">
          <a:xfrm>
            <a:off x="281621" y="4553393"/>
            <a:ext cx="7774089" cy="545887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B4D00E9-18E8-679B-0A6C-A10A3BAF03AE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6785" t="6152" r="6912" b="4067"/>
          <a:stretch>
            <a:fillRect/>
          </a:stretch>
        </p:blipFill>
        <p:spPr bwMode="auto">
          <a:xfrm>
            <a:off x="9534738" y="4558908"/>
            <a:ext cx="8471639" cy="545336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1580" y="-2280737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-5400000" flipH="1">
            <a:off x="13889068" y="5987800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 rot="-10800000">
            <a:off x="14418840" y="7843979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 rot="-8586571" flipH="1">
            <a:off x="-2791741" y="8811023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 rot="2213428" flipH="1">
            <a:off x="13329770" y="-1149071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 rot="-5832155">
            <a:off x="-2643337" y="5103858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0" y="0"/>
                </a:moveTo>
                <a:lnTo>
                  <a:pt x="8784254" y="0"/>
                </a:lnTo>
                <a:lnTo>
                  <a:pt x="8784254" y="9013694"/>
                </a:lnTo>
                <a:lnTo>
                  <a:pt x="0" y="9013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 rot="-5832155" flipH="1" flipV="1">
            <a:off x="12147083" y="-3830552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8784254" y="9013694"/>
                </a:moveTo>
                <a:lnTo>
                  <a:pt x="0" y="9013694"/>
                </a:lnTo>
                <a:lnTo>
                  <a:pt x="0" y="0"/>
                </a:lnTo>
                <a:lnTo>
                  <a:pt x="8784254" y="0"/>
                </a:lnTo>
                <a:lnTo>
                  <a:pt x="8784254" y="9013694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9" name="Group 9"/>
          <p:cNvGrpSpPr/>
          <p:nvPr/>
        </p:nvGrpSpPr>
        <p:grpSpPr>
          <a:xfrm>
            <a:off x="129501" y="163453"/>
            <a:ext cx="9262643" cy="1052603"/>
            <a:chOff x="0" y="0"/>
            <a:chExt cx="12350191" cy="14034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87877" cy="1403471"/>
            </a:xfrm>
            <a:custGeom>
              <a:avLst/>
              <a:gdLst/>
              <a:ahLst/>
              <a:cxnLst/>
              <a:rect l="l" t="t" r="r" b="b"/>
              <a:pathLst>
                <a:path w="1387877" h="1403471">
                  <a:moveTo>
                    <a:pt x="0" y="0"/>
                  </a:moveTo>
                  <a:lnTo>
                    <a:pt x="1387877" y="0"/>
                  </a:lnTo>
                  <a:lnTo>
                    <a:pt x="1387877" y="1403471"/>
                  </a:lnTo>
                  <a:lnTo>
                    <a:pt x="0" y="140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40277" y="425447"/>
              <a:ext cx="10809914" cy="595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8"/>
                </a:lnSpc>
              </a:pPr>
              <a:r>
                <a:rPr lang="en-US" sz="3107" b="1">
                  <a:solidFill>
                    <a:srgbClr val="FCFEFD"/>
                  </a:solidFill>
                  <a:latin typeface="Sukar Heavy"/>
                  <a:ea typeface="Sukar Heavy"/>
                  <a:cs typeface="Sukar Heavy"/>
                  <a:sym typeface="Sukar Heavy"/>
                </a:rPr>
                <a:t>UNIVERSITAS LANCANG KUNING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20878" y="1695130"/>
            <a:ext cx="11397829" cy="891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600" b="1">
                <a:solidFill>
                  <a:srgbClr val="FCFEFD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SISTEM YANG DI USULKAN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11277" y="2933700"/>
            <a:ext cx="5265446" cy="471347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lnSpc>
                <a:spcPts val="3503"/>
              </a:lnSpc>
            </a:pPr>
            <a:r>
              <a:rPr lang="en-US" sz="3503" b="1" dirty="0">
                <a:solidFill>
                  <a:srgbClr val="FFFFFF"/>
                </a:solidFill>
                <a:latin typeface="Sukar Heavy"/>
                <a:ea typeface="Sukar Heavy"/>
                <a:cs typeface="Sukar Heavy"/>
                <a:sym typeface="Sukar Heavy"/>
              </a:rPr>
              <a:t>Class Diagram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6AAB502-51EB-703B-8E21-619AF7B5E3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17776" y="3623716"/>
            <a:ext cx="12252448" cy="624797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1580" y="-2280737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-5400000" flipH="1">
            <a:off x="13889068" y="5987800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 rot="-10800000">
            <a:off x="14418840" y="7843979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 rot="-8586571" flipH="1">
            <a:off x="-2791741" y="8811023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 rot="2213428" flipH="1">
            <a:off x="13329770" y="-1149071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 rot="-5832155">
            <a:off x="-2643337" y="5103858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0" y="0"/>
                </a:moveTo>
                <a:lnTo>
                  <a:pt x="8784254" y="0"/>
                </a:lnTo>
                <a:lnTo>
                  <a:pt x="8784254" y="9013694"/>
                </a:lnTo>
                <a:lnTo>
                  <a:pt x="0" y="9013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 rot="-5832155" flipH="1" flipV="1">
            <a:off x="12147083" y="-3830552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8784254" y="9013694"/>
                </a:moveTo>
                <a:lnTo>
                  <a:pt x="0" y="9013694"/>
                </a:lnTo>
                <a:lnTo>
                  <a:pt x="0" y="0"/>
                </a:lnTo>
                <a:lnTo>
                  <a:pt x="8784254" y="0"/>
                </a:lnTo>
                <a:lnTo>
                  <a:pt x="8784254" y="9013694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9" name="Group 9"/>
          <p:cNvGrpSpPr/>
          <p:nvPr/>
        </p:nvGrpSpPr>
        <p:grpSpPr>
          <a:xfrm>
            <a:off x="129501" y="163453"/>
            <a:ext cx="9262643" cy="1052603"/>
            <a:chOff x="0" y="0"/>
            <a:chExt cx="12350191" cy="14034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87877" cy="1403471"/>
            </a:xfrm>
            <a:custGeom>
              <a:avLst/>
              <a:gdLst/>
              <a:ahLst/>
              <a:cxnLst/>
              <a:rect l="l" t="t" r="r" b="b"/>
              <a:pathLst>
                <a:path w="1387877" h="1403471">
                  <a:moveTo>
                    <a:pt x="0" y="0"/>
                  </a:moveTo>
                  <a:lnTo>
                    <a:pt x="1387877" y="0"/>
                  </a:lnTo>
                  <a:lnTo>
                    <a:pt x="1387877" y="1403471"/>
                  </a:lnTo>
                  <a:lnTo>
                    <a:pt x="0" y="140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40277" y="425447"/>
              <a:ext cx="10809914" cy="595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8"/>
                </a:lnSpc>
              </a:pPr>
              <a:r>
                <a:rPr lang="en-US" sz="3107" b="1">
                  <a:solidFill>
                    <a:srgbClr val="FCFEFD"/>
                  </a:solidFill>
                  <a:latin typeface="Sukar Heavy"/>
                  <a:ea typeface="Sukar Heavy"/>
                  <a:cs typeface="Sukar Heavy"/>
                  <a:sym typeface="Sukar Heavy"/>
                </a:rPr>
                <a:t>UNIVERSITAS LANCANG KUNING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20878" y="1695130"/>
            <a:ext cx="11397829" cy="891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600" b="1">
                <a:solidFill>
                  <a:srgbClr val="FCFEFD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SISTEM YANG DI USULKAN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27690" y="3211926"/>
            <a:ext cx="5265446" cy="920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3"/>
              </a:lnSpc>
            </a:pPr>
            <a:r>
              <a:rPr lang="en-US" sz="3503" b="1" dirty="0">
                <a:solidFill>
                  <a:srgbClr val="FFFFFF"/>
                </a:solidFill>
                <a:latin typeface="Sukar Heavy"/>
                <a:ea typeface="Sukar Heavy"/>
                <a:cs typeface="Sukar Heavy"/>
                <a:sym typeface="Sukar Heavy"/>
              </a:rPr>
              <a:t>Sequence Diagram </a:t>
            </a:r>
            <a:br>
              <a:rPr lang="en-US" sz="3503" b="1" dirty="0">
                <a:solidFill>
                  <a:srgbClr val="FFFFFF"/>
                </a:solidFill>
                <a:latin typeface="Sukar Heavy"/>
                <a:ea typeface="Sukar Heavy"/>
                <a:cs typeface="Sukar Heavy"/>
                <a:sym typeface="Sukar Heavy"/>
              </a:rPr>
            </a:br>
            <a:r>
              <a:rPr lang="en-US" sz="3503" b="1" dirty="0">
                <a:solidFill>
                  <a:srgbClr val="FFFFFF"/>
                </a:solidFill>
                <a:latin typeface="Sukar Heavy"/>
                <a:ea typeface="Sukar Heavy"/>
                <a:cs typeface="Sukar Heavy"/>
                <a:sym typeface="Sukar Heavy"/>
              </a:rPr>
              <a:t>Login Admin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945191" y="3232712"/>
            <a:ext cx="5265446" cy="920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3"/>
              </a:lnSpc>
            </a:pPr>
            <a:r>
              <a:rPr lang="en-US" sz="3503" b="1" dirty="0">
                <a:solidFill>
                  <a:srgbClr val="FFFFFF"/>
                </a:solidFill>
                <a:latin typeface="Sukar Heavy"/>
                <a:ea typeface="Sukar Heavy"/>
                <a:cs typeface="Sukar Heavy"/>
                <a:sym typeface="Sukar Heavy"/>
              </a:rPr>
              <a:t>Sequence Diagram</a:t>
            </a:r>
          </a:p>
          <a:p>
            <a:pPr algn="ctr">
              <a:lnSpc>
                <a:spcPts val="3503"/>
              </a:lnSpc>
            </a:pPr>
            <a:r>
              <a:rPr lang="en-US" sz="3503" b="1" dirty="0">
                <a:solidFill>
                  <a:srgbClr val="FFFFFF"/>
                </a:solidFill>
                <a:latin typeface="Sukar Heavy"/>
                <a:ea typeface="Sukar Heavy"/>
                <a:cs typeface="Sukar Heavy"/>
                <a:sym typeface="Sukar Heavy"/>
              </a:rPr>
              <a:t>Kelola Berita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E324E8B-B655-1C96-76F0-09BCE36F72F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3011"/>
          <a:stretch>
            <a:fillRect/>
          </a:stretch>
        </p:blipFill>
        <p:spPr bwMode="auto">
          <a:xfrm>
            <a:off x="406792" y="4502551"/>
            <a:ext cx="7518008" cy="530191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E739B2B-59EC-F434-5038-A84C9A7604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81342" y="4535701"/>
            <a:ext cx="7899866" cy="52559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1580" y="-2280737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-5400000" flipH="1">
            <a:off x="13889068" y="5987800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 rot="-10800000">
            <a:off x="14418840" y="7843979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 rot="-8586571" flipH="1">
            <a:off x="-2791741" y="8811023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 rot="2213428" flipH="1">
            <a:off x="13329770" y="-1149071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 rot="-5832155">
            <a:off x="-2643337" y="5103858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0" y="0"/>
                </a:moveTo>
                <a:lnTo>
                  <a:pt x="8784254" y="0"/>
                </a:lnTo>
                <a:lnTo>
                  <a:pt x="8784254" y="9013694"/>
                </a:lnTo>
                <a:lnTo>
                  <a:pt x="0" y="9013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 rot="-5832155" flipH="1" flipV="1">
            <a:off x="12147083" y="-3830552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8784254" y="9013694"/>
                </a:moveTo>
                <a:lnTo>
                  <a:pt x="0" y="9013694"/>
                </a:lnTo>
                <a:lnTo>
                  <a:pt x="0" y="0"/>
                </a:lnTo>
                <a:lnTo>
                  <a:pt x="8784254" y="0"/>
                </a:lnTo>
                <a:lnTo>
                  <a:pt x="8784254" y="9013694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9" name="Group 9"/>
          <p:cNvGrpSpPr/>
          <p:nvPr/>
        </p:nvGrpSpPr>
        <p:grpSpPr>
          <a:xfrm>
            <a:off x="129501" y="163453"/>
            <a:ext cx="9262643" cy="1052603"/>
            <a:chOff x="0" y="0"/>
            <a:chExt cx="12350191" cy="14034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87877" cy="1403471"/>
            </a:xfrm>
            <a:custGeom>
              <a:avLst/>
              <a:gdLst/>
              <a:ahLst/>
              <a:cxnLst/>
              <a:rect l="l" t="t" r="r" b="b"/>
              <a:pathLst>
                <a:path w="1387877" h="1403471">
                  <a:moveTo>
                    <a:pt x="0" y="0"/>
                  </a:moveTo>
                  <a:lnTo>
                    <a:pt x="1387877" y="0"/>
                  </a:lnTo>
                  <a:lnTo>
                    <a:pt x="1387877" y="1403471"/>
                  </a:lnTo>
                  <a:lnTo>
                    <a:pt x="0" y="140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40277" y="425447"/>
              <a:ext cx="10809914" cy="595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8"/>
                </a:lnSpc>
              </a:pPr>
              <a:r>
                <a:rPr lang="en-US" sz="3107" b="1">
                  <a:solidFill>
                    <a:srgbClr val="FCFEFD"/>
                  </a:solidFill>
                  <a:latin typeface="Sukar Heavy"/>
                  <a:ea typeface="Sukar Heavy"/>
                  <a:cs typeface="Sukar Heavy"/>
                  <a:sym typeface="Sukar Heavy"/>
                </a:rPr>
                <a:t>UNIVERSITAS LANCANG KUNING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03783" y="4088182"/>
            <a:ext cx="8471639" cy="4708455"/>
            <a:chOff x="0" y="0"/>
            <a:chExt cx="2231214" cy="124008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31214" cy="1240087"/>
            </a:xfrm>
            <a:custGeom>
              <a:avLst/>
              <a:gdLst/>
              <a:ahLst/>
              <a:cxnLst/>
              <a:rect l="l" t="t" r="r" b="b"/>
              <a:pathLst>
                <a:path w="2231214" h="1240087">
                  <a:moveTo>
                    <a:pt x="65798" y="0"/>
                  </a:moveTo>
                  <a:lnTo>
                    <a:pt x="2165415" y="0"/>
                  </a:lnTo>
                  <a:cubicBezTo>
                    <a:pt x="2182866" y="0"/>
                    <a:pt x="2199602" y="6932"/>
                    <a:pt x="2211942" y="19272"/>
                  </a:cubicBezTo>
                  <a:cubicBezTo>
                    <a:pt x="2224281" y="31611"/>
                    <a:pt x="2231214" y="48347"/>
                    <a:pt x="2231214" y="65798"/>
                  </a:cubicBezTo>
                  <a:lnTo>
                    <a:pt x="2231214" y="1174289"/>
                  </a:lnTo>
                  <a:cubicBezTo>
                    <a:pt x="2231214" y="1191740"/>
                    <a:pt x="2224281" y="1208476"/>
                    <a:pt x="2211942" y="1220815"/>
                  </a:cubicBezTo>
                  <a:cubicBezTo>
                    <a:pt x="2199602" y="1233155"/>
                    <a:pt x="2182866" y="1240087"/>
                    <a:pt x="2165415" y="1240087"/>
                  </a:cubicBezTo>
                  <a:lnTo>
                    <a:pt x="65798" y="1240087"/>
                  </a:lnTo>
                  <a:cubicBezTo>
                    <a:pt x="48347" y="1240087"/>
                    <a:pt x="31611" y="1233155"/>
                    <a:pt x="19272" y="1220815"/>
                  </a:cubicBezTo>
                  <a:cubicBezTo>
                    <a:pt x="6932" y="1208476"/>
                    <a:pt x="0" y="1191740"/>
                    <a:pt x="0" y="1174289"/>
                  </a:cubicBezTo>
                  <a:lnTo>
                    <a:pt x="0" y="65798"/>
                  </a:lnTo>
                  <a:cubicBezTo>
                    <a:pt x="0" y="48347"/>
                    <a:pt x="6932" y="31611"/>
                    <a:pt x="19272" y="19272"/>
                  </a:cubicBezTo>
                  <a:cubicBezTo>
                    <a:pt x="31611" y="6932"/>
                    <a:pt x="48347" y="0"/>
                    <a:pt x="65798" y="0"/>
                  </a:cubicBezTo>
                  <a:close/>
                </a:path>
              </a:pathLst>
            </a:custGeom>
            <a:solidFill>
              <a:srgbClr val="002C4F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231214" cy="1278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6770750" y="2034540"/>
            <a:ext cx="7277858" cy="8078336"/>
          </a:xfrm>
          <a:custGeom>
            <a:avLst/>
            <a:gdLst/>
            <a:ahLst/>
            <a:cxnLst/>
            <a:rect l="l" t="t" r="r" b="b"/>
            <a:pathLst>
              <a:path w="7277858" h="8078336">
                <a:moveTo>
                  <a:pt x="0" y="0"/>
                </a:moveTo>
                <a:lnTo>
                  <a:pt x="7277858" y="0"/>
                </a:lnTo>
                <a:lnTo>
                  <a:pt x="7277858" y="8078337"/>
                </a:lnTo>
                <a:lnTo>
                  <a:pt x="0" y="80783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527" b="-527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919881" y="1143000"/>
            <a:ext cx="11397829" cy="891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600" b="1">
                <a:solidFill>
                  <a:srgbClr val="FCFEFD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SISTEM YANG DI USULKAN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1580" y="-2280737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-5400000" flipH="1">
            <a:off x="13889068" y="5987800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 rot="-10800000">
            <a:off x="14418840" y="7843979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 rot="-8586571" flipH="1">
            <a:off x="-2791741" y="8811023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 rot="2213428" flipH="1">
            <a:off x="13329770" y="-1149071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 rot="-5832155">
            <a:off x="-2643337" y="5103858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0" y="0"/>
                </a:moveTo>
                <a:lnTo>
                  <a:pt x="8784254" y="0"/>
                </a:lnTo>
                <a:lnTo>
                  <a:pt x="8784254" y="9013694"/>
                </a:lnTo>
                <a:lnTo>
                  <a:pt x="0" y="9013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 rot="-5832155" flipH="1" flipV="1">
            <a:off x="12147083" y="-3830552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8784254" y="9013694"/>
                </a:moveTo>
                <a:lnTo>
                  <a:pt x="0" y="9013694"/>
                </a:lnTo>
                <a:lnTo>
                  <a:pt x="0" y="0"/>
                </a:lnTo>
                <a:lnTo>
                  <a:pt x="8784254" y="0"/>
                </a:lnTo>
                <a:lnTo>
                  <a:pt x="8784254" y="9013694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9" name="Group 9"/>
          <p:cNvGrpSpPr/>
          <p:nvPr/>
        </p:nvGrpSpPr>
        <p:grpSpPr>
          <a:xfrm>
            <a:off x="129501" y="163453"/>
            <a:ext cx="9262643" cy="1052603"/>
            <a:chOff x="0" y="0"/>
            <a:chExt cx="12350191" cy="14034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87877" cy="1403471"/>
            </a:xfrm>
            <a:custGeom>
              <a:avLst/>
              <a:gdLst/>
              <a:ahLst/>
              <a:cxnLst/>
              <a:rect l="l" t="t" r="r" b="b"/>
              <a:pathLst>
                <a:path w="1387877" h="1403471">
                  <a:moveTo>
                    <a:pt x="0" y="0"/>
                  </a:moveTo>
                  <a:lnTo>
                    <a:pt x="1387877" y="0"/>
                  </a:lnTo>
                  <a:lnTo>
                    <a:pt x="1387877" y="1403471"/>
                  </a:lnTo>
                  <a:lnTo>
                    <a:pt x="0" y="140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40277" y="425447"/>
              <a:ext cx="10809914" cy="595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8"/>
                </a:lnSpc>
              </a:pPr>
              <a:r>
                <a:rPr lang="en-US" sz="3107" b="1">
                  <a:solidFill>
                    <a:srgbClr val="FCFEFD"/>
                  </a:solidFill>
                  <a:latin typeface="Sukar Heavy"/>
                  <a:ea typeface="Sukar Heavy"/>
                  <a:cs typeface="Sukar Heavy"/>
                  <a:sym typeface="Sukar Heavy"/>
                </a:rPr>
                <a:t>UNIVERSITAS LANCANG KUNING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03783" y="4088182"/>
            <a:ext cx="8471639" cy="4708455"/>
            <a:chOff x="0" y="0"/>
            <a:chExt cx="2231214" cy="124008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31214" cy="1240087"/>
            </a:xfrm>
            <a:custGeom>
              <a:avLst/>
              <a:gdLst/>
              <a:ahLst/>
              <a:cxnLst/>
              <a:rect l="l" t="t" r="r" b="b"/>
              <a:pathLst>
                <a:path w="2231214" h="1240087">
                  <a:moveTo>
                    <a:pt x="65798" y="0"/>
                  </a:moveTo>
                  <a:lnTo>
                    <a:pt x="2165415" y="0"/>
                  </a:lnTo>
                  <a:cubicBezTo>
                    <a:pt x="2182866" y="0"/>
                    <a:pt x="2199602" y="6932"/>
                    <a:pt x="2211942" y="19272"/>
                  </a:cubicBezTo>
                  <a:cubicBezTo>
                    <a:pt x="2224281" y="31611"/>
                    <a:pt x="2231214" y="48347"/>
                    <a:pt x="2231214" y="65798"/>
                  </a:cubicBezTo>
                  <a:lnTo>
                    <a:pt x="2231214" y="1174289"/>
                  </a:lnTo>
                  <a:cubicBezTo>
                    <a:pt x="2231214" y="1191740"/>
                    <a:pt x="2224281" y="1208476"/>
                    <a:pt x="2211942" y="1220815"/>
                  </a:cubicBezTo>
                  <a:cubicBezTo>
                    <a:pt x="2199602" y="1233155"/>
                    <a:pt x="2182866" y="1240087"/>
                    <a:pt x="2165415" y="1240087"/>
                  </a:cubicBezTo>
                  <a:lnTo>
                    <a:pt x="65798" y="1240087"/>
                  </a:lnTo>
                  <a:cubicBezTo>
                    <a:pt x="48347" y="1240087"/>
                    <a:pt x="31611" y="1233155"/>
                    <a:pt x="19272" y="1220815"/>
                  </a:cubicBezTo>
                  <a:cubicBezTo>
                    <a:pt x="6932" y="1208476"/>
                    <a:pt x="0" y="1191740"/>
                    <a:pt x="0" y="1174289"/>
                  </a:cubicBezTo>
                  <a:lnTo>
                    <a:pt x="0" y="65798"/>
                  </a:lnTo>
                  <a:cubicBezTo>
                    <a:pt x="0" y="48347"/>
                    <a:pt x="6932" y="31611"/>
                    <a:pt x="19272" y="19272"/>
                  </a:cubicBezTo>
                  <a:cubicBezTo>
                    <a:pt x="31611" y="6932"/>
                    <a:pt x="48347" y="0"/>
                    <a:pt x="65798" y="0"/>
                  </a:cubicBezTo>
                  <a:close/>
                </a:path>
              </a:pathLst>
            </a:custGeom>
            <a:solidFill>
              <a:srgbClr val="002C4F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231214" cy="1278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003320" y="4440587"/>
            <a:ext cx="8388825" cy="5170118"/>
          </a:xfrm>
          <a:custGeom>
            <a:avLst/>
            <a:gdLst/>
            <a:ahLst/>
            <a:cxnLst/>
            <a:rect l="l" t="t" r="r" b="b"/>
            <a:pathLst>
              <a:path w="8388825" h="5170118">
                <a:moveTo>
                  <a:pt x="0" y="0"/>
                </a:moveTo>
                <a:lnTo>
                  <a:pt x="8388825" y="0"/>
                </a:lnTo>
                <a:lnTo>
                  <a:pt x="8388825" y="5170118"/>
                </a:lnTo>
                <a:lnTo>
                  <a:pt x="0" y="51701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10631516" y="4023591"/>
            <a:ext cx="7261465" cy="6004110"/>
          </a:xfrm>
          <a:custGeom>
            <a:avLst/>
            <a:gdLst/>
            <a:ahLst/>
            <a:cxnLst/>
            <a:rect l="l" t="t" r="r" b="b"/>
            <a:pathLst>
              <a:path w="7261465" h="6004110">
                <a:moveTo>
                  <a:pt x="0" y="0"/>
                </a:moveTo>
                <a:lnTo>
                  <a:pt x="7261465" y="0"/>
                </a:lnTo>
                <a:lnTo>
                  <a:pt x="7261465" y="6004110"/>
                </a:lnTo>
                <a:lnTo>
                  <a:pt x="0" y="60041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919881" y="1143000"/>
            <a:ext cx="11397829" cy="891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600" b="1">
                <a:solidFill>
                  <a:srgbClr val="FCFEFD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SISTEM YANG DI USULKAN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37566" y="3596444"/>
            <a:ext cx="5265446" cy="469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3"/>
              </a:lnSpc>
            </a:pPr>
            <a:r>
              <a:rPr lang="en-US" sz="3503" b="1">
                <a:solidFill>
                  <a:srgbClr val="FFFFFF"/>
                </a:solidFill>
                <a:latin typeface="Sukar Heavy"/>
                <a:ea typeface="Sukar Heavy"/>
                <a:cs typeface="Sukar Heavy"/>
                <a:sym typeface="Sukar Heavy"/>
              </a:rPr>
              <a:t>Sequence Diagram Login Admin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945192" y="3069299"/>
            <a:ext cx="5265446" cy="90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3"/>
              </a:lnSpc>
            </a:pPr>
            <a:r>
              <a:rPr lang="en-US" sz="3503" b="1">
                <a:solidFill>
                  <a:srgbClr val="FFFFFF"/>
                </a:solidFill>
                <a:latin typeface="Sukar Heavy"/>
                <a:ea typeface="Sukar Heavy"/>
                <a:cs typeface="Sukar Heavy"/>
                <a:sym typeface="Sukar Heavy"/>
              </a:rPr>
              <a:t>Sequence Diagram Kelola Berita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1580" y="-2280737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-5400000" flipH="1">
            <a:off x="13889068" y="5987800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 rot="-10800000">
            <a:off x="14418840" y="7843979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 rot="-8586571" flipH="1">
            <a:off x="-2791741" y="8811023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 rot="2213428" flipH="1">
            <a:off x="13329770" y="-1149071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 rot="-5832155">
            <a:off x="-2643337" y="5103858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0" y="0"/>
                </a:moveTo>
                <a:lnTo>
                  <a:pt x="8784254" y="0"/>
                </a:lnTo>
                <a:lnTo>
                  <a:pt x="8784254" y="9013694"/>
                </a:lnTo>
                <a:lnTo>
                  <a:pt x="0" y="9013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 rot="-5832155" flipH="1" flipV="1">
            <a:off x="12147083" y="-3830552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8784254" y="9013694"/>
                </a:moveTo>
                <a:lnTo>
                  <a:pt x="0" y="9013694"/>
                </a:lnTo>
                <a:lnTo>
                  <a:pt x="0" y="0"/>
                </a:lnTo>
                <a:lnTo>
                  <a:pt x="8784254" y="0"/>
                </a:lnTo>
                <a:lnTo>
                  <a:pt x="8784254" y="9013694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9" name="Group 9"/>
          <p:cNvGrpSpPr/>
          <p:nvPr/>
        </p:nvGrpSpPr>
        <p:grpSpPr>
          <a:xfrm>
            <a:off x="129501" y="163453"/>
            <a:ext cx="9262643" cy="1052603"/>
            <a:chOff x="0" y="0"/>
            <a:chExt cx="12350191" cy="14034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87877" cy="1403471"/>
            </a:xfrm>
            <a:custGeom>
              <a:avLst/>
              <a:gdLst/>
              <a:ahLst/>
              <a:cxnLst/>
              <a:rect l="l" t="t" r="r" b="b"/>
              <a:pathLst>
                <a:path w="1387877" h="1403471">
                  <a:moveTo>
                    <a:pt x="0" y="0"/>
                  </a:moveTo>
                  <a:lnTo>
                    <a:pt x="1387877" y="0"/>
                  </a:lnTo>
                  <a:lnTo>
                    <a:pt x="1387877" y="1403471"/>
                  </a:lnTo>
                  <a:lnTo>
                    <a:pt x="0" y="140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40277" y="425447"/>
              <a:ext cx="10809914" cy="595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8"/>
                </a:lnSpc>
              </a:pPr>
              <a:r>
                <a:rPr lang="en-US" sz="3107" b="1">
                  <a:solidFill>
                    <a:srgbClr val="FCFEFD"/>
                  </a:solidFill>
                  <a:latin typeface="Sukar Heavy"/>
                  <a:ea typeface="Sukar Heavy"/>
                  <a:cs typeface="Sukar Heavy"/>
                  <a:sym typeface="Sukar Heavy"/>
                </a:rPr>
                <a:t>UNIVERSITAS LANCANG KUNING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03783" y="4088182"/>
            <a:ext cx="8471639" cy="4708455"/>
            <a:chOff x="0" y="0"/>
            <a:chExt cx="2231214" cy="124008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31214" cy="1240087"/>
            </a:xfrm>
            <a:custGeom>
              <a:avLst/>
              <a:gdLst/>
              <a:ahLst/>
              <a:cxnLst/>
              <a:rect l="l" t="t" r="r" b="b"/>
              <a:pathLst>
                <a:path w="2231214" h="1240087">
                  <a:moveTo>
                    <a:pt x="65798" y="0"/>
                  </a:moveTo>
                  <a:lnTo>
                    <a:pt x="2165415" y="0"/>
                  </a:lnTo>
                  <a:cubicBezTo>
                    <a:pt x="2182866" y="0"/>
                    <a:pt x="2199602" y="6932"/>
                    <a:pt x="2211942" y="19272"/>
                  </a:cubicBezTo>
                  <a:cubicBezTo>
                    <a:pt x="2224281" y="31611"/>
                    <a:pt x="2231214" y="48347"/>
                    <a:pt x="2231214" y="65798"/>
                  </a:cubicBezTo>
                  <a:lnTo>
                    <a:pt x="2231214" y="1174289"/>
                  </a:lnTo>
                  <a:cubicBezTo>
                    <a:pt x="2231214" y="1191740"/>
                    <a:pt x="2224281" y="1208476"/>
                    <a:pt x="2211942" y="1220815"/>
                  </a:cubicBezTo>
                  <a:cubicBezTo>
                    <a:pt x="2199602" y="1233155"/>
                    <a:pt x="2182866" y="1240087"/>
                    <a:pt x="2165415" y="1240087"/>
                  </a:cubicBezTo>
                  <a:lnTo>
                    <a:pt x="65798" y="1240087"/>
                  </a:lnTo>
                  <a:cubicBezTo>
                    <a:pt x="48347" y="1240087"/>
                    <a:pt x="31611" y="1233155"/>
                    <a:pt x="19272" y="1220815"/>
                  </a:cubicBezTo>
                  <a:cubicBezTo>
                    <a:pt x="6932" y="1208476"/>
                    <a:pt x="0" y="1191740"/>
                    <a:pt x="0" y="1174289"/>
                  </a:cubicBezTo>
                  <a:lnTo>
                    <a:pt x="0" y="65798"/>
                  </a:lnTo>
                  <a:cubicBezTo>
                    <a:pt x="0" y="48347"/>
                    <a:pt x="6932" y="31611"/>
                    <a:pt x="19272" y="19272"/>
                  </a:cubicBezTo>
                  <a:cubicBezTo>
                    <a:pt x="31611" y="6932"/>
                    <a:pt x="48347" y="0"/>
                    <a:pt x="65798" y="0"/>
                  </a:cubicBezTo>
                  <a:close/>
                </a:path>
              </a:pathLst>
            </a:custGeom>
            <a:solidFill>
              <a:srgbClr val="002C4F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231214" cy="1278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817557" y="4215733"/>
            <a:ext cx="8326443" cy="5811968"/>
          </a:xfrm>
          <a:custGeom>
            <a:avLst/>
            <a:gdLst/>
            <a:ahLst/>
            <a:cxnLst/>
            <a:rect l="l" t="t" r="r" b="b"/>
            <a:pathLst>
              <a:path w="8326443" h="5811968">
                <a:moveTo>
                  <a:pt x="0" y="0"/>
                </a:moveTo>
                <a:lnTo>
                  <a:pt x="8326443" y="0"/>
                </a:lnTo>
                <a:lnTo>
                  <a:pt x="8326443" y="5811968"/>
                </a:lnTo>
                <a:lnTo>
                  <a:pt x="0" y="5811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9392145" y="4215733"/>
            <a:ext cx="8658387" cy="5741390"/>
          </a:xfrm>
          <a:custGeom>
            <a:avLst/>
            <a:gdLst/>
            <a:ahLst/>
            <a:cxnLst/>
            <a:rect l="l" t="t" r="r" b="b"/>
            <a:pathLst>
              <a:path w="8658387" h="5741390">
                <a:moveTo>
                  <a:pt x="0" y="0"/>
                </a:moveTo>
                <a:lnTo>
                  <a:pt x="8658386" y="0"/>
                </a:lnTo>
                <a:lnTo>
                  <a:pt x="8658386" y="5741391"/>
                </a:lnTo>
                <a:lnTo>
                  <a:pt x="0" y="57413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919881" y="1143000"/>
            <a:ext cx="11397829" cy="891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600" b="1">
                <a:solidFill>
                  <a:srgbClr val="FCFEFD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SISTEM YANG DI USULKAN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37566" y="3115446"/>
            <a:ext cx="5265446" cy="90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3"/>
              </a:lnSpc>
            </a:pPr>
            <a:r>
              <a:rPr lang="en-US" sz="3503" b="1">
                <a:solidFill>
                  <a:srgbClr val="FFFFFF"/>
                </a:solidFill>
                <a:latin typeface="Sukar Heavy"/>
                <a:ea typeface="Sukar Heavy"/>
                <a:cs typeface="Sukar Heavy"/>
                <a:sym typeface="Sukar Heavy"/>
              </a:rPr>
              <a:t>Desain Form Login Admin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945192" y="3069299"/>
            <a:ext cx="5265446" cy="90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3"/>
              </a:lnSpc>
            </a:pPr>
            <a:r>
              <a:rPr lang="en-US" sz="3503" b="1">
                <a:solidFill>
                  <a:srgbClr val="FFFFFF"/>
                </a:solidFill>
                <a:latin typeface="Sukar Heavy"/>
                <a:ea typeface="Sukar Heavy"/>
                <a:cs typeface="Sukar Heavy"/>
                <a:sym typeface="Sukar Heavy"/>
              </a:rPr>
              <a:t>Desain Dashboard Kelola Berita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1580" y="-2280737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-5400000" flipH="1">
            <a:off x="13889068" y="5987800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 rot="-10800000">
            <a:off x="14418840" y="7843979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 rot="-8586571" flipH="1">
            <a:off x="-2791741" y="8811023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 rot="2213428" flipH="1">
            <a:off x="13329770" y="-1149071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 rot="-5832155">
            <a:off x="-2643337" y="5103858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0" y="0"/>
                </a:moveTo>
                <a:lnTo>
                  <a:pt x="8784254" y="0"/>
                </a:lnTo>
                <a:lnTo>
                  <a:pt x="8784254" y="9013694"/>
                </a:lnTo>
                <a:lnTo>
                  <a:pt x="0" y="9013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 rot="-5832155" flipH="1" flipV="1">
            <a:off x="12147083" y="-3830552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8784254" y="9013694"/>
                </a:moveTo>
                <a:lnTo>
                  <a:pt x="0" y="9013694"/>
                </a:lnTo>
                <a:lnTo>
                  <a:pt x="0" y="0"/>
                </a:lnTo>
                <a:lnTo>
                  <a:pt x="8784254" y="0"/>
                </a:lnTo>
                <a:lnTo>
                  <a:pt x="8784254" y="9013694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9" name="Group 9"/>
          <p:cNvGrpSpPr/>
          <p:nvPr/>
        </p:nvGrpSpPr>
        <p:grpSpPr>
          <a:xfrm>
            <a:off x="129501" y="163453"/>
            <a:ext cx="9262643" cy="1052603"/>
            <a:chOff x="0" y="0"/>
            <a:chExt cx="12350191" cy="14034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87877" cy="1403471"/>
            </a:xfrm>
            <a:custGeom>
              <a:avLst/>
              <a:gdLst/>
              <a:ahLst/>
              <a:cxnLst/>
              <a:rect l="l" t="t" r="r" b="b"/>
              <a:pathLst>
                <a:path w="1387877" h="1403471">
                  <a:moveTo>
                    <a:pt x="0" y="0"/>
                  </a:moveTo>
                  <a:lnTo>
                    <a:pt x="1387877" y="0"/>
                  </a:lnTo>
                  <a:lnTo>
                    <a:pt x="1387877" y="1403471"/>
                  </a:lnTo>
                  <a:lnTo>
                    <a:pt x="0" y="140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40277" y="425447"/>
              <a:ext cx="10809914" cy="595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8"/>
                </a:lnSpc>
              </a:pPr>
              <a:r>
                <a:rPr lang="en-US" sz="3107" b="1">
                  <a:solidFill>
                    <a:srgbClr val="FCFEFD"/>
                  </a:solidFill>
                  <a:latin typeface="Sukar Heavy"/>
                  <a:ea typeface="Sukar Heavy"/>
                  <a:cs typeface="Sukar Heavy"/>
                  <a:sym typeface="Sukar Heavy"/>
                </a:rPr>
                <a:t>UNIVERSITAS LANCANG KUNING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03783" y="4088182"/>
            <a:ext cx="8471639" cy="4708455"/>
            <a:chOff x="0" y="0"/>
            <a:chExt cx="2231214" cy="124008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31214" cy="1240087"/>
            </a:xfrm>
            <a:custGeom>
              <a:avLst/>
              <a:gdLst/>
              <a:ahLst/>
              <a:cxnLst/>
              <a:rect l="l" t="t" r="r" b="b"/>
              <a:pathLst>
                <a:path w="2231214" h="1240087">
                  <a:moveTo>
                    <a:pt x="65798" y="0"/>
                  </a:moveTo>
                  <a:lnTo>
                    <a:pt x="2165415" y="0"/>
                  </a:lnTo>
                  <a:cubicBezTo>
                    <a:pt x="2182866" y="0"/>
                    <a:pt x="2199602" y="6932"/>
                    <a:pt x="2211942" y="19272"/>
                  </a:cubicBezTo>
                  <a:cubicBezTo>
                    <a:pt x="2224281" y="31611"/>
                    <a:pt x="2231214" y="48347"/>
                    <a:pt x="2231214" y="65798"/>
                  </a:cubicBezTo>
                  <a:lnTo>
                    <a:pt x="2231214" y="1174289"/>
                  </a:lnTo>
                  <a:cubicBezTo>
                    <a:pt x="2231214" y="1191740"/>
                    <a:pt x="2224281" y="1208476"/>
                    <a:pt x="2211942" y="1220815"/>
                  </a:cubicBezTo>
                  <a:cubicBezTo>
                    <a:pt x="2199602" y="1233155"/>
                    <a:pt x="2182866" y="1240087"/>
                    <a:pt x="2165415" y="1240087"/>
                  </a:cubicBezTo>
                  <a:lnTo>
                    <a:pt x="65798" y="1240087"/>
                  </a:lnTo>
                  <a:cubicBezTo>
                    <a:pt x="48347" y="1240087"/>
                    <a:pt x="31611" y="1233155"/>
                    <a:pt x="19272" y="1220815"/>
                  </a:cubicBezTo>
                  <a:cubicBezTo>
                    <a:pt x="6932" y="1208476"/>
                    <a:pt x="0" y="1191740"/>
                    <a:pt x="0" y="1174289"/>
                  </a:cubicBezTo>
                  <a:lnTo>
                    <a:pt x="0" y="65798"/>
                  </a:lnTo>
                  <a:cubicBezTo>
                    <a:pt x="0" y="48347"/>
                    <a:pt x="6932" y="31611"/>
                    <a:pt x="19272" y="19272"/>
                  </a:cubicBezTo>
                  <a:cubicBezTo>
                    <a:pt x="31611" y="6932"/>
                    <a:pt x="48347" y="0"/>
                    <a:pt x="65798" y="0"/>
                  </a:cubicBezTo>
                  <a:close/>
                </a:path>
              </a:pathLst>
            </a:custGeom>
            <a:solidFill>
              <a:srgbClr val="002C4F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231214" cy="1278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993634" y="4084373"/>
            <a:ext cx="7534379" cy="6004110"/>
          </a:xfrm>
          <a:custGeom>
            <a:avLst/>
            <a:gdLst/>
            <a:ahLst/>
            <a:cxnLst/>
            <a:rect l="l" t="t" r="r" b="b"/>
            <a:pathLst>
              <a:path w="7534379" h="6004110">
                <a:moveTo>
                  <a:pt x="0" y="0"/>
                </a:moveTo>
                <a:lnTo>
                  <a:pt x="7534378" y="0"/>
                </a:lnTo>
                <a:lnTo>
                  <a:pt x="7534378" y="6004111"/>
                </a:lnTo>
                <a:lnTo>
                  <a:pt x="0" y="60041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10959277" y="3037447"/>
            <a:ext cx="6245479" cy="7168412"/>
          </a:xfrm>
          <a:custGeom>
            <a:avLst/>
            <a:gdLst/>
            <a:ahLst/>
            <a:cxnLst/>
            <a:rect l="l" t="t" r="r" b="b"/>
            <a:pathLst>
              <a:path w="6245479" h="7168412">
                <a:moveTo>
                  <a:pt x="0" y="0"/>
                </a:moveTo>
                <a:lnTo>
                  <a:pt x="6245479" y="0"/>
                </a:lnTo>
                <a:lnTo>
                  <a:pt x="6245479" y="7168411"/>
                </a:lnTo>
                <a:lnTo>
                  <a:pt x="0" y="71684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919881" y="1143000"/>
            <a:ext cx="11397829" cy="891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600" b="1">
                <a:solidFill>
                  <a:srgbClr val="FCFEFD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SISTEM YANG DI USULKAN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37566" y="3115446"/>
            <a:ext cx="5265446" cy="90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3"/>
              </a:lnSpc>
            </a:pPr>
            <a:r>
              <a:rPr lang="en-US" sz="3503" b="1">
                <a:solidFill>
                  <a:srgbClr val="FFFFFF"/>
                </a:solidFill>
                <a:latin typeface="Sukar Heavy"/>
                <a:ea typeface="Sukar Heavy"/>
                <a:cs typeface="Sukar Heavy"/>
                <a:sym typeface="Sukar Heavy"/>
              </a:rPr>
              <a:t>Desain Form Tambah Berita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71767" y="2017524"/>
            <a:ext cx="6294146" cy="90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3"/>
              </a:lnSpc>
            </a:pPr>
            <a:r>
              <a:rPr lang="en-US" sz="3503" b="1">
                <a:solidFill>
                  <a:srgbClr val="FFFFFF"/>
                </a:solidFill>
                <a:latin typeface="Sukar Heavy"/>
                <a:ea typeface="Sukar Heavy"/>
                <a:cs typeface="Sukar Heavy"/>
                <a:sym typeface="Sukar Heavy"/>
              </a:rPr>
              <a:t>Kesimpulan Hasil PKL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1580" y="-2280737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-5400000" flipH="1">
            <a:off x="13889068" y="5987800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 rot="-10800000">
            <a:off x="14418840" y="7843979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 rot="-8586571" flipH="1">
            <a:off x="-2791741" y="8811023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 rot="2213428" flipH="1">
            <a:off x="13329770" y="-1149071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 rot="-5832155">
            <a:off x="-2643337" y="5103858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0" y="0"/>
                </a:moveTo>
                <a:lnTo>
                  <a:pt x="8784254" y="0"/>
                </a:lnTo>
                <a:lnTo>
                  <a:pt x="8784254" y="9013694"/>
                </a:lnTo>
                <a:lnTo>
                  <a:pt x="0" y="9013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 rot="-5832155" flipH="1" flipV="1">
            <a:off x="12147083" y="-3830552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8784254" y="9013694"/>
                </a:moveTo>
                <a:lnTo>
                  <a:pt x="0" y="9013694"/>
                </a:lnTo>
                <a:lnTo>
                  <a:pt x="0" y="0"/>
                </a:lnTo>
                <a:lnTo>
                  <a:pt x="8784254" y="0"/>
                </a:lnTo>
                <a:lnTo>
                  <a:pt x="8784254" y="9013694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9" name="Group 9"/>
          <p:cNvGrpSpPr/>
          <p:nvPr/>
        </p:nvGrpSpPr>
        <p:grpSpPr>
          <a:xfrm>
            <a:off x="129501" y="163453"/>
            <a:ext cx="9262643" cy="1052603"/>
            <a:chOff x="0" y="0"/>
            <a:chExt cx="12350191" cy="14034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87877" cy="1403471"/>
            </a:xfrm>
            <a:custGeom>
              <a:avLst/>
              <a:gdLst/>
              <a:ahLst/>
              <a:cxnLst/>
              <a:rect l="l" t="t" r="r" b="b"/>
              <a:pathLst>
                <a:path w="1387877" h="1403471">
                  <a:moveTo>
                    <a:pt x="0" y="0"/>
                  </a:moveTo>
                  <a:lnTo>
                    <a:pt x="1387877" y="0"/>
                  </a:lnTo>
                  <a:lnTo>
                    <a:pt x="1387877" y="1403471"/>
                  </a:lnTo>
                  <a:lnTo>
                    <a:pt x="0" y="140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40277" y="425447"/>
              <a:ext cx="10809914" cy="595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8"/>
                </a:lnSpc>
              </a:pPr>
              <a:r>
                <a:rPr lang="en-US" sz="3107" b="1">
                  <a:solidFill>
                    <a:srgbClr val="FCFEFD"/>
                  </a:solidFill>
                  <a:latin typeface="Sukar Heavy"/>
                  <a:ea typeface="Sukar Heavy"/>
                  <a:cs typeface="Sukar Heavy"/>
                  <a:sym typeface="Sukar Heavy"/>
                </a:rPr>
                <a:t>UNIVERSITAS LANCANG KUNING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03783" y="4088182"/>
            <a:ext cx="8471639" cy="4708455"/>
            <a:chOff x="0" y="0"/>
            <a:chExt cx="2231214" cy="124008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31214" cy="1240087"/>
            </a:xfrm>
            <a:custGeom>
              <a:avLst/>
              <a:gdLst/>
              <a:ahLst/>
              <a:cxnLst/>
              <a:rect l="l" t="t" r="r" b="b"/>
              <a:pathLst>
                <a:path w="2231214" h="1240087">
                  <a:moveTo>
                    <a:pt x="65798" y="0"/>
                  </a:moveTo>
                  <a:lnTo>
                    <a:pt x="2165415" y="0"/>
                  </a:lnTo>
                  <a:cubicBezTo>
                    <a:pt x="2182866" y="0"/>
                    <a:pt x="2199602" y="6932"/>
                    <a:pt x="2211942" y="19272"/>
                  </a:cubicBezTo>
                  <a:cubicBezTo>
                    <a:pt x="2224281" y="31611"/>
                    <a:pt x="2231214" y="48347"/>
                    <a:pt x="2231214" y="65798"/>
                  </a:cubicBezTo>
                  <a:lnTo>
                    <a:pt x="2231214" y="1174289"/>
                  </a:lnTo>
                  <a:cubicBezTo>
                    <a:pt x="2231214" y="1191740"/>
                    <a:pt x="2224281" y="1208476"/>
                    <a:pt x="2211942" y="1220815"/>
                  </a:cubicBezTo>
                  <a:cubicBezTo>
                    <a:pt x="2199602" y="1233155"/>
                    <a:pt x="2182866" y="1240087"/>
                    <a:pt x="2165415" y="1240087"/>
                  </a:cubicBezTo>
                  <a:lnTo>
                    <a:pt x="65798" y="1240087"/>
                  </a:lnTo>
                  <a:cubicBezTo>
                    <a:pt x="48347" y="1240087"/>
                    <a:pt x="31611" y="1233155"/>
                    <a:pt x="19272" y="1220815"/>
                  </a:cubicBezTo>
                  <a:cubicBezTo>
                    <a:pt x="6932" y="1208476"/>
                    <a:pt x="0" y="1191740"/>
                    <a:pt x="0" y="1174289"/>
                  </a:cubicBezTo>
                  <a:lnTo>
                    <a:pt x="0" y="65798"/>
                  </a:lnTo>
                  <a:cubicBezTo>
                    <a:pt x="0" y="48347"/>
                    <a:pt x="6932" y="31611"/>
                    <a:pt x="19272" y="19272"/>
                  </a:cubicBezTo>
                  <a:cubicBezTo>
                    <a:pt x="31611" y="6932"/>
                    <a:pt x="48347" y="0"/>
                    <a:pt x="65798" y="0"/>
                  </a:cubicBezTo>
                  <a:close/>
                </a:path>
              </a:pathLst>
            </a:custGeom>
            <a:solidFill>
              <a:srgbClr val="002C4F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231214" cy="1278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67760" y="4561333"/>
            <a:ext cx="8719461" cy="5049372"/>
          </a:xfrm>
          <a:custGeom>
            <a:avLst/>
            <a:gdLst/>
            <a:ahLst/>
            <a:cxnLst/>
            <a:rect l="l" t="t" r="r" b="b"/>
            <a:pathLst>
              <a:path w="8719461" h="5049372">
                <a:moveTo>
                  <a:pt x="0" y="0"/>
                </a:moveTo>
                <a:lnTo>
                  <a:pt x="8719461" y="0"/>
                </a:lnTo>
                <a:lnTo>
                  <a:pt x="8719461" y="5049372"/>
                </a:lnTo>
                <a:lnTo>
                  <a:pt x="0" y="50493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9421625" y="4586868"/>
            <a:ext cx="8312578" cy="5023836"/>
          </a:xfrm>
          <a:custGeom>
            <a:avLst/>
            <a:gdLst/>
            <a:ahLst/>
            <a:cxnLst/>
            <a:rect l="l" t="t" r="r" b="b"/>
            <a:pathLst>
              <a:path w="8312578" h="5023836">
                <a:moveTo>
                  <a:pt x="0" y="0"/>
                </a:moveTo>
                <a:lnTo>
                  <a:pt x="8312578" y="0"/>
                </a:lnTo>
                <a:lnTo>
                  <a:pt x="8312578" y="5023837"/>
                </a:lnTo>
                <a:lnTo>
                  <a:pt x="0" y="50238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919881" y="1143000"/>
            <a:ext cx="11397829" cy="891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600" b="1">
                <a:solidFill>
                  <a:srgbClr val="FCFEFD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SISTEM YANG DI USULKAN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37566" y="3115446"/>
            <a:ext cx="5265446" cy="90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3"/>
              </a:lnSpc>
            </a:pPr>
            <a:r>
              <a:rPr lang="en-US" sz="3503" b="1">
                <a:solidFill>
                  <a:srgbClr val="FFFFFF"/>
                </a:solidFill>
                <a:latin typeface="Sukar Heavy"/>
                <a:ea typeface="Sukar Heavy"/>
                <a:cs typeface="Sukar Heavy"/>
                <a:sym typeface="Sukar Heavy"/>
              </a:rPr>
              <a:t>Saran Pengembangan Sistem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38321" y="3113797"/>
            <a:ext cx="6294146" cy="90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3"/>
              </a:lnSpc>
            </a:pPr>
            <a:r>
              <a:rPr lang="en-US" sz="3503" b="1">
                <a:solidFill>
                  <a:srgbClr val="FFFFFF"/>
                </a:solidFill>
                <a:latin typeface="Sukar Heavy"/>
                <a:ea typeface="Sukar Heavy"/>
                <a:cs typeface="Sukar Heavy"/>
                <a:sym typeface="Sukar Heavy"/>
              </a:rPr>
              <a:t>Saran Keamanan &amp; Integrasi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73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7850" y="0"/>
            <a:ext cx="19837478" cy="11505737"/>
          </a:xfrm>
          <a:custGeom>
            <a:avLst/>
            <a:gdLst/>
            <a:ahLst/>
            <a:cxnLst/>
            <a:rect l="l" t="t" r="r" b="b"/>
            <a:pathLst>
              <a:path w="19837478" h="11505737">
                <a:moveTo>
                  <a:pt x="0" y="0"/>
                </a:moveTo>
                <a:lnTo>
                  <a:pt x="19837478" y="0"/>
                </a:lnTo>
                <a:lnTo>
                  <a:pt x="19837478" y="11505737"/>
                </a:lnTo>
                <a:lnTo>
                  <a:pt x="0" y="115057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5400000" flipH="1">
            <a:off x="200544" y="-521496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-371580" y="-2280737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 rot="-5400000" flipH="1">
            <a:off x="13889068" y="5987800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 rot="-10800000">
            <a:off x="14418840" y="7843979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 rot="-8586571" flipH="1">
            <a:off x="-2791741" y="8811023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 rot="2213428" flipH="1">
            <a:off x="13329770" y="-1149071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9" name="Freeform 9"/>
          <p:cNvSpPr/>
          <p:nvPr/>
        </p:nvSpPr>
        <p:spPr>
          <a:xfrm rot="-5832155">
            <a:off x="-2643337" y="5103858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0" y="0"/>
                </a:moveTo>
                <a:lnTo>
                  <a:pt x="8784254" y="0"/>
                </a:lnTo>
                <a:lnTo>
                  <a:pt x="8784254" y="9013694"/>
                </a:lnTo>
                <a:lnTo>
                  <a:pt x="0" y="9013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 rot="-5832155" flipH="1" flipV="1">
            <a:off x="12147083" y="-3830552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8784254" y="9013694"/>
                </a:moveTo>
                <a:lnTo>
                  <a:pt x="0" y="9013694"/>
                </a:lnTo>
                <a:lnTo>
                  <a:pt x="0" y="0"/>
                </a:lnTo>
                <a:lnTo>
                  <a:pt x="8784254" y="0"/>
                </a:lnTo>
                <a:lnTo>
                  <a:pt x="8784254" y="9013694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>
            <a:off x="129501" y="163453"/>
            <a:ext cx="9262643" cy="1052603"/>
            <a:chOff x="0" y="0"/>
            <a:chExt cx="12350191" cy="14034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87877" cy="1403471"/>
            </a:xfrm>
            <a:custGeom>
              <a:avLst/>
              <a:gdLst/>
              <a:ahLst/>
              <a:cxnLst/>
              <a:rect l="l" t="t" r="r" b="b"/>
              <a:pathLst>
                <a:path w="1387877" h="1403471">
                  <a:moveTo>
                    <a:pt x="0" y="0"/>
                  </a:moveTo>
                  <a:lnTo>
                    <a:pt x="1387877" y="0"/>
                  </a:lnTo>
                  <a:lnTo>
                    <a:pt x="1387877" y="1403471"/>
                  </a:lnTo>
                  <a:lnTo>
                    <a:pt x="0" y="140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40277" y="425447"/>
              <a:ext cx="10809914" cy="595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8"/>
                </a:lnSpc>
              </a:pPr>
              <a:r>
                <a:rPr lang="en-US" sz="3107" b="1">
                  <a:solidFill>
                    <a:srgbClr val="FCFEFD"/>
                  </a:solidFill>
                  <a:latin typeface="Sukar Heavy"/>
                  <a:ea typeface="Sukar Heavy"/>
                  <a:cs typeface="Sukar Heavy"/>
                  <a:sym typeface="Sukar Heavy"/>
                </a:rPr>
                <a:t>UNIVERSITAS LANCANG KUNING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1347808" y="4267201"/>
            <a:ext cx="5811968" cy="5938657"/>
          </a:xfrm>
          <a:custGeom>
            <a:avLst/>
            <a:gdLst/>
            <a:ahLst/>
            <a:cxnLst/>
            <a:rect l="l" t="t" r="r" b="b"/>
            <a:pathLst>
              <a:path w="5811968" h="5938657">
                <a:moveTo>
                  <a:pt x="0" y="0"/>
                </a:moveTo>
                <a:lnTo>
                  <a:pt x="5811968" y="0"/>
                </a:lnTo>
                <a:lnTo>
                  <a:pt x="5811968" y="5938657"/>
                </a:lnTo>
                <a:lnTo>
                  <a:pt x="0" y="59386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089" r="-1089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8481052" y="4510938"/>
            <a:ext cx="9673319" cy="5451183"/>
          </a:xfrm>
          <a:custGeom>
            <a:avLst/>
            <a:gdLst/>
            <a:ahLst/>
            <a:cxnLst/>
            <a:rect l="l" t="t" r="r" b="b"/>
            <a:pathLst>
              <a:path w="9673319" h="5451183">
                <a:moveTo>
                  <a:pt x="0" y="0"/>
                </a:moveTo>
                <a:lnTo>
                  <a:pt x="9673318" y="0"/>
                </a:lnTo>
                <a:lnTo>
                  <a:pt x="9673318" y="5451183"/>
                </a:lnTo>
                <a:lnTo>
                  <a:pt x="0" y="54511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919881" y="1143000"/>
            <a:ext cx="11397829" cy="891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600" b="1">
                <a:solidFill>
                  <a:srgbClr val="FCFEFD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SISTEM YANG DI USULKAN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48790" y="2929614"/>
            <a:ext cx="5265446" cy="90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3"/>
              </a:lnSpc>
            </a:pPr>
            <a:r>
              <a:rPr lang="en-US" sz="3503" b="1">
                <a:solidFill>
                  <a:srgbClr val="FFFFFF"/>
                </a:solidFill>
                <a:latin typeface="Sukar Heavy"/>
                <a:ea typeface="Sukar Heavy"/>
                <a:cs typeface="Sukar Heavy"/>
                <a:sym typeface="Sukar Heavy"/>
              </a:rPr>
              <a:t>Desain Tampilan Halaman Login Admin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84988" y="3079902"/>
            <a:ext cx="5265446" cy="90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3"/>
              </a:lnSpc>
            </a:pPr>
            <a:r>
              <a:rPr lang="en-US" sz="3503" b="1">
                <a:solidFill>
                  <a:srgbClr val="FFFFFF"/>
                </a:solidFill>
                <a:latin typeface="Sukar Heavy"/>
                <a:ea typeface="Sukar Heavy"/>
                <a:cs typeface="Sukar Heavy"/>
                <a:sym typeface="Sukar Heavy"/>
              </a:rPr>
              <a:t>Desain Tampilan Halaman Utama (Landing Page)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73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7850" y="0"/>
            <a:ext cx="19837478" cy="11505737"/>
          </a:xfrm>
          <a:custGeom>
            <a:avLst/>
            <a:gdLst/>
            <a:ahLst/>
            <a:cxnLst/>
            <a:rect l="l" t="t" r="r" b="b"/>
            <a:pathLst>
              <a:path w="19837478" h="11505737">
                <a:moveTo>
                  <a:pt x="0" y="0"/>
                </a:moveTo>
                <a:lnTo>
                  <a:pt x="19837478" y="0"/>
                </a:lnTo>
                <a:lnTo>
                  <a:pt x="19837478" y="11505737"/>
                </a:lnTo>
                <a:lnTo>
                  <a:pt x="0" y="115057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5400000" flipH="1">
            <a:off x="200544" y="-521496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-371580" y="-2280737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 rot="-5400000" flipH="1">
            <a:off x="13889068" y="5987800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 rot="-10800000">
            <a:off x="14418840" y="7843979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 rot="-8586571" flipH="1">
            <a:off x="-2791741" y="8811023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 rot="2213428" flipH="1">
            <a:off x="13329770" y="-1149071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9" name="Freeform 9"/>
          <p:cNvSpPr/>
          <p:nvPr/>
        </p:nvSpPr>
        <p:spPr>
          <a:xfrm rot="-5832155">
            <a:off x="-2643337" y="5103858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0" y="0"/>
                </a:moveTo>
                <a:lnTo>
                  <a:pt x="8784254" y="0"/>
                </a:lnTo>
                <a:lnTo>
                  <a:pt x="8784254" y="9013694"/>
                </a:lnTo>
                <a:lnTo>
                  <a:pt x="0" y="9013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 rot="-5832155" flipH="1" flipV="1">
            <a:off x="12147083" y="-3830552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8784254" y="9013694"/>
                </a:moveTo>
                <a:lnTo>
                  <a:pt x="0" y="9013694"/>
                </a:lnTo>
                <a:lnTo>
                  <a:pt x="0" y="0"/>
                </a:lnTo>
                <a:lnTo>
                  <a:pt x="8784254" y="0"/>
                </a:lnTo>
                <a:lnTo>
                  <a:pt x="8784254" y="9013694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>
            <a:off x="129501" y="163453"/>
            <a:ext cx="9262643" cy="1052603"/>
            <a:chOff x="0" y="0"/>
            <a:chExt cx="12350191" cy="14034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87877" cy="1403471"/>
            </a:xfrm>
            <a:custGeom>
              <a:avLst/>
              <a:gdLst/>
              <a:ahLst/>
              <a:cxnLst/>
              <a:rect l="l" t="t" r="r" b="b"/>
              <a:pathLst>
                <a:path w="1387877" h="1403471">
                  <a:moveTo>
                    <a:pt x="0" y="0"/>
                  </a:moveTo>
                  <a:lnTo>
                    <a:pt x="1387877" y="0"/>
                  </a:lnTo>
                  <a:lnTo>
                    <a:pt x="1387877" y="1403471"/>
                  </a:lnTo>
                  <a:lnTo>
                    <a:pt x="0" y="140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40277" y="425447"/>
              <a:ext cx="10809914" cy="595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8"/>
                </a:lnSpc>
              </a:pPr>
              <a:r>
                <a:rPr lang="en-US" sz="3107" b="1">
                  <a:solidFill>
                    <a:srgbClr val="FCFEFD"/>
                  </a:solidFill>
                  <a:latin typeface="Sukar Heavy"/>
                  <a:ea typeface="Sukar Heavy"/>
                  <a:cs typeface="Sukar Heavy"/>
                  <a:sym typeface="Sukar Heavy"/>
                </a:rPr>
                <a:t>UNIVERSITAS LANCANG KUNING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507105" y="4575868"/>
            <a:ext cx="8405962" cy="4682432"/>
          </a:xfrm>
          <a:custGeom>
            <a:avLst/>
            <a:gdLst/>
            <a:ahLst/>
            <a:cxnLst/>
            <a:rect l="l" t="t" r="r" b="b"/>
            <a:pathLst>
              <a:path w="8405962" h="4682432">
                <a:moveTo>
                  <a:pt x="0" y="0"/>
                </a:moveTo>
                <a:lnTo>
                  <a:pt x="8405962" y="0"/>
                </a:lnTo>
                <a:lnTo>
                  <a:pt x="8405962" y="4682432"/>
                </a:lnTo>
                <a:lnTo>
                  <a:pt x="0" y="46824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9193776" y="4519307"/>
            <a:ext cx="8768276" cy="4795553"/>
          </a:xfrm>
          <a:custGeom>
            <a:avLst/>
            <a:gdLst/>
            <a:ahLst/>
            <a:cxnLst/>
            <a:rect l="l" t="t" r="r" b="b"/>
            <a:pathLst>
              <a:path w="8768276" h="4795553">
                <a:moveTo>
                  <a:pt x="0" y="0"/>
                </a:moveTo>
                <a:lnTo>
                  <a:pt x="8768276" y="0"/>
                </a:lnTo>
                <a:lnTo>
                  <a:pt x="8768276" y="4795553"/>
                </a:lnTo>
                <a:lnTo>
                  <a:pt x="0" y="47955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919881" y="1143000"/>
            <a:ext cx="11397829" cy="891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600" b="1">
                <a:solidFill>
                  <a:srgbClr val="FCFEFD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SISTEM YANG DI USULKAN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48790" y="2929614"/>
            <a:ext cx="5265446" cy="90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3"/>
              </a:lnSpc>
            </a:pPr>
            <a:r>
              <a:rPr lang="en-US" sz="3503" b="1">
                <a:solidFill>
                  <a:srgbClr val="FFFFFF"/>
                </a:solidFill>
                <a:latin typeface="Sukar Heavy"/>
                <a:ea typeface="Sukar Heavy"/>
                <a:cs typeface="Sukar Heavy"/>
                <a:sym typeface="Sukar Heavy"/>
              </a:rPr>
              <a:t>Desain Tampilan Detail Profil Pengacara (Modal)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84988" y="3079902"/>
            <a:ext cx="5265446" cy="90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3"/>
              </a:lnSpc>
            </a:pPr>
            <a:r>
              <a:rPr lang="en-US" sz="3503" b="1">
                <a:solidFill>
                  <a:srgbClr val="FFFFFF"/>
                </a:solidFill>
                <a:latin typeface="Sukar Heavy"/>
                <a:ea typeface="Sukar Heavy"/>
                <a:cs typeface="Sukar Heavy"/>
                <a:sym typeface="Sukar Heavy"/>
              </a:rPr>
              <a:t>Desain Tampilan Detail Halaman Berita Hukum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73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7850" y="0"/>
            <a:ext cx="19837478" cy="11505737"/>
          </a:xfrm>
          <a:custGeom>
            <a:avLst/>
            <a:gdLst/>
            <a:ahLst/>
            <a:cxnLst/>
            <a:rect l="l" t="t" r="r" b="b"/>
            <a:pathLst>
              <a:path w="19837478" h="11505737">
                <a:moveTo>
                  <a:pt x="0" y="0"/>
                </a:moveTo>
                <a:lnTo>
                  <a:pt x="19837478" y="0"/>
                </a:lnTo>
                <a:lnTo>
                  <a:pt x="19837478" y="11505737"/>
                </a:lnTo>
                <a:lnTo>
                  <a:pt x="0" y="115057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5400000" flipH="1">
            <a:off x="200544" y="-521496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-371580" y="-2280737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 rot="-5400000" flipH="1">
            <a:off x="13889068" y="5987800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 rot="-10800000">
            <a:off x="14418840" y="7843979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 rot="-8586571" flipH="1">
            <a:off x="-2791741" y="8811023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 rot="2213428" flipH="1">
            <a:off x="13329770" y="-1149071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9" name="Freeform 9"/>
          <p:cNvSpPr/>
          <p:nvPr/>
        </p:nvSpPr>
        <p:spPr>
          <a:xfrm rot="-5832155">
            <a:off x="-2643337" y="5103858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0" y="0"/>
                </a:moveTo>
                <a:lnTo>
                  <a:pt x="8784254" y="0"/>
                </a:lnTo>
                <a:lnTo>
                  <a:pt x="8784254" y="9013694"/>
                </a:lnTo>
                <a:lnTo>
                  <a:pt x="0" y="9013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 rot="-5832155" flipH="1" flipV="1">
            <a:off x="12147083" y="-3830552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8784254" y="9013694"/>
                </a:moveTo>
                <a:lnTo>
                  <a:pt x="0" y="9013694"/>
                </a:lnTo>
                <a:lnTo>
                  <a:pt x="0" y="0"/>
                </a:lnTo>
                <a:lnTo>
                  <a:pt x="8784254" y="0"/>
                </a:lnTo>
                <a:lnTo>
                  <a:pt x="8784254" y="9013694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>
            <a:off x="129501" y="163453"/>
            <a:ext cx="9262643" cy="1052603"/>
            <a:chOff x="0" y="0"/>
            <a:chExt cx="12350191" cy="14034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87877" cy="1403471"/>
            </a:xfrm>
            <a:custGeom>
              <a:avLst/>
              <a:gdLst/>
              <a:ahLst/>
              <a:cxnLst/>
              <a:rect l="l" t="t" r="r" b="b"/>
              <a:pathLst>
                <a:path w="1387877" h="1403471">
                  <a:moveTo>
                    <a:pt x="0" y="0"/>
                  </a:moveTo>
                  <a:lnTo>
                    <a:pt x="1387877" y="0"/>
                  </a:lnTo>
                  <a:lnTo>
                    <a:pt x="1387877" y="1403471"/>
                  </a:lnTo>
                  <a:lnTo>
                    <a:pt x="0" y="140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40277" y="425447"/>
              <a:ext cx="10809914" cy="595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8"/>
                </a:lnSpc>
              </a:pPr>
              <a:r>
                <a:rPr lang="en-US" sz="3107" b="1">
                  <a:solidFill>
                    <a:srgbClr val="FCFEFD"/>
                  </a:solidFill>
                  <a:latin typeface="Sukar Heavy"/>
                  <a:ea typeface="Sukar Heavy"/>
                  <a:cs typeface="Sukar Heavy"/>
                  <a:sym typeface="Sukar Heavy"/>
                </a:rPr>
                <a:t>UNIVERSITAS LANCANG KUNING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129501" y="4559258"/>
            <a:ext cx="8789451" cy="4715652"/>
          </a:xfrm>
          <a:custGeom>
            <a:avLst/>
            <a:gdLst/>
            <a:ahLst/>
            <a:cxnLst/>
            <a:rect l="l" t="t" r="r" b="b"/>
            <a:pathLst>
              <a:path w="8789451" h="4715652">
                <a:moveTo>
                  <a:pt x="0" y="0"/>
                </a:moveTo>
                <a:lnTo>
                  <a:pt x="8789451" y="0"/>
                </a:lnTo>
                <a:lnTo>
                  <a:pt x="8789451" y="4715652"/>
                </a:lnTo>
                <a:lnTo>
                  <a:pt x="0" y="47156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9144000" y="4497640"/>
            <a:ext cx="8997931" cy="4838887"/>
          </a:xfrm>
          <a:custGeom>
            <a:avLst/>
            <a:gdLst/>
            <a:ahLst/>
            <a:cxnLst/>
            <a:rect l="l" t="t" r="r" b="b"/>
            <a:pathLst>
              <a:path w="8997931" h="4838887">
                <a:moveTo>
                  <a:pt x="0" y="0"/>
                </a:moveTo>
                <a:lnTo>
                  <a:pt x="8997931" y="0"/>
                </a:lnTo>
                <a:lnTo>
                  <a:pt x="8997931" y="4838887"/>
                </a:lnTo>
                <a:lnTo>
                  <a:pt x="0" y="48388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919881" y="1143000"/>
            <a:ext cx="11397829" cy="891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600" b="1">
                <a:solidFill>
                  <a:srgbClr val="FCFEFD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SISTEM YANG DI USULKAN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48790" y="2929614"/>
            <a:ext cx="5265446" cy="90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3"/>
              </a:lnSpc>
            </a:pPr>
            <a:r>
              <a:rPr lang="en-US" sz="3503" b="1">
                <a:solidFill>
                  <a:srgbClr val="FFFFFF"/>
                </a:solidFill>
                <a:latin typeface="Sukar Heavy"/>
                <a:ea typeface="Sukar Heavy"/>
                <a:cs typeface="Sukar Heavy"/>
                <a:sym typeface="Sukar Heavy"/>
              </a:rPr>
              <a:t>Desain Tampilan Dashboard Pengelola Berita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84988" y="3079902"/>
            <a:ext cx="5265446" cy="90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3"/>
              </a:lnSpc>
            </a:pPr>
            <a:r>
              <a:rPr lang="en-US" sz="3503" b="1">
                <a:solidFill>
                  <a:srgbClr val="FFFFFF"/>
                </a:solidFill>
                <a:latin typeface="Sukar Heavy"/>
                <a:ea typeface="Sukar Heavy"/>
                <a:cs typeface="Sukar Heavy"/>
                <a:sym typeface="Sukar Heavy"/>
              </a:rPr>
              <a:t>Desain Tampilan Formulir Tambah Berita Baru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73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7850" y="0"/>
            <a:ext cx="19837478" cy="11505737"/>
          </a:xfrm>
          <a:custGeom>
            <a:avLst/>
            <a:gdLst/>
            <a:ahLst/>
            <a:cxnLst/>
            <a:rect l="l" t="t" r="r" b="b"/>
            <a:pathLst>
              <a:path w="19837478" h="11505737">
                <a:moveTo>
                  <a:pt x="0" y="0"/>
                </a:moveTo>
                <a:lnTo>
                  <a:pt x="19837478" y="0"/>
                </a:lnTo>
                <a:lnTo>
                  <a:pt x="19837478" y="11505737"/>
                </a:lnTo>
                <a:lnTo>
                  <a:pt x="0" y="115057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5400000" flipH="1">
            <a:off x="200544" y="-521496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-371580" y="-2280737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 rot="-5400000" flipH="1">
            <a:off x="13889068" y="5987800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 rot="-10800000">
            <a:off x="14418840" y="7843979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 rot="-8586571" flipH="1">
            <a:off x="-2791741" y="8811023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 rot="2213428" flipH="1">
            <a:off x="13329770" y="-1149071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9" name="Freeform 9"/>
          <p:cNvSpPr/>
          <p:nvPr/>
        </p:nvSpPr>
        <p:spPr>
          <a:xfrm rot="-5832155">
            <a:off x="-2643337" y="5103858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0" y="0"/>
                </a:moveTo>
                <a:lnTo>
                  <a:pt x="8784254" y="0"/>
                </a:lnTo>
                <a:lnTo>
                  <a:pt x="8784254" y="9013694"/>
                </a:lnTo>
                <a:lnTo>
                  <a:pt x="0" y="9013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 rot="-5832155" flipH="1" flipV="1">
            <a:off x="12147083" y="-3830552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8784254" y="9013694"/>
                </a:moveTo>
                <a:lnTo>
                  <a:pt x="0" y="9013694"/>
                </a:lnTo>
                <a:lnTo>
                  <a:pt x="0" y="0"/>
                </a:lnTo>
                <a:lnTo>
                  <a:pt x="8784254" y="0"/>
                </a:lnTo>
                <a:lnTo>
                  <a:pt x="8784254" y="9013694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>
            <a:off x="129501" y="163453"/>
            <a:ext cx="9262643" cy="1052603"/>
            <a:chOff x="0" y="0"/>
            <a:chExt cx="12350191" cy="14034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87877" cy="1403471"/>
            </a:xfrm>
            <a:custGeom>
              <a:avLst/>
              <a:gdLst/>
              <a:ahLst/>
              <a:cxnLst/>
              <a:rect l="l" t="t" r="r" b="b"/>
              <a:pathLst>
                <a:path w="1387877" h="1403471">
                  <a:moveTo>
                    <a:pt x="0" y="0"/>
                  </a:moveTo>
                  <a:lnTo>
                    <a:pt x="1387877" y="0"/>
                  </a:lnTo>
                  <a:lnTo>
                    <a:pt x="1387877" y="1403471"/>
                  </a:lnTo>
                  <a:lnTo>
                    <a:pt x="0" y="140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40277" y="425447"/>
              <a:ext cx="10809914" cy="595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8"/>
                </a:lnSpc>
              </a:pPr>
              <a:r>
                <a:rPr lang="en-US" sz="3107" b="1">
                  <a:solidFill>
                    <a:srgbClr val="FCFEFD"/>
                  </a:solidFill>
                  <a:latin typeface="Sukar Heavy"/>
                  <a:ea typeface="Sukar Heavy"/>
                  <a:cs typeface="Sukar Heavy"/>
                  <a:sym typeface="Sukar Heavy"/>
                </a:rPr>
                <a:t>UNIVERSITAS LANCANG KUNING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5151349" y="3972941"/>
            <a:ext cx="8481592" cy="5637764"/>
          </a:xfrm>
          <a:custGeom>
            <a:avLst/>
            <a:gdLst/>
            <a:ahLst/>
            <a:cxnLst/>
            <a:rect l="l" t="t" r="r" b="b"/>
            <a:pathLst>
              <a:path w="8481592" h="5637764">
                <a:moveTo>
                  <a:pt x="0" y="0"/>
                </a:moveTo>
                <a:lnTo>
                  <a:pt x="8481592" y="0"/>
                </a:lnTo>
                <a:lnTo>
                  <a:pt x="8481592" y="5637764"/>
                </a:lnTo>
                <a:lnTo>
                  <a:pt x="0" y="56377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1919881" y="1143000"/>
            <a:ext cx="11397829" cy="891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600" b="1">
                <a:solidFill>
                  <a:srgbClr val="FCFEFD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SISTEM YANG DI USULKAN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30849" y="2804353"/>
            <a:ext cx="5265446" cy="90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3"/>
              </a:lnSpc>
            </a:pPr>
            <a:r>
              <a:rPr lang="en-US" sz="3503" b="1">
                <a:solidFill>
                  <a:srgbClr val="FFFFFF"/>
                </a:solidFill>
                <a:latin typeface="Sukar Heavy"/>
                <a:ea typeface="Sukar Heavy"/>
                <a:cs typeface="Sukar Heavy"/>
                <a:sym typeface="Sukar Heavy"/>
              </a:rPr>
              <a:t>Terima Kasih atas Perhatian Dewan Penguji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73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7850" y="0"/>
            <a:ext cx="19837478" cy="11505737"/>
          </a:xfrm>
          <a:custGeom>
            <a:avLst/>
            <a:gdLst/>
            <a:ahLst/>
            <a:cxnLst/>
            <a:rect l="l" t="t" r="r" b="b"/>
            <a:pathLst>
              <a:path w="19837478" h="11505737">
                <a:moveTo>
                  <a:pt x="0" y="0"/>
                </a:moveTo>
                <a:lnTo>
                  <a:pt x="19837478" y="0"/>
                </a:lnTo>
                <a:lnTo>
                  <a:pt x="19837478" y="11505737"/>
                </a:lnTo>
                <a:lnTo>
                  <a:pt x="0" y="115057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5400000" flipH="1">
            <a:off x="200544" y="-521496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-371580" y="-2280737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 rot="-5400000" flipH="1">
            <a:off x="13889068" y="5987800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 rot="-10800000">
            <a:off x="14418840" y="7843979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 rot="-8586571" flipH="1">
            <a:off x="-2791741" y="8811023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 rot="2213428" flipH="1">
            <a:off x="13329770" y="-1149071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9" name="Freeform 9"/>
          <p:cNvSpPr/>
          <p:nvPr/>
        </p:nvSpPr>
        <p:spPr>
          <a:xfrm rot="-5832155">
            <a:off x="-2643337" y="5103858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0" y="0"/>
                </a:moveTo>
                <a:lnTo>
                  <a:pt x="8784254" y="0"/>
                </a:lnTo>
                <a:lnTo>
                  <a:pt x="8784254" y="9013694"/>
                </a:lnTo>
                <a:lnTo>
                  <a:pt x="0" y="9013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 rot="-5832155" flipH="1" flipV="1">
            <a:off x="12147083" y="-3830552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8784254" y="9013694"/>
                </a:moveTo>
                <a:lnTo>
                  <a:pt x="0" y="9013694"/>
                </a:lnTo>
                <a:lnTo>
                  <a:pt x="0" y="0"/>
                </a:lnTo>
                <a:lnTo>
                  <a:pt x="8784254" y="0"/>
                </a:lnTo>
                <a:lnTo>
                  <a:pt x="8784254" y="9013694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>
            <a:off x="129501" y="163453"/>
            <a:ext cx="9262643" cy="1052603"/>
            <a:chOff x="0" y="0"/>
            <a:chExt cx="12350191" cy="14034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87877" cy="1403471"/>
            </a:xfrm>
            <a:custGeom>
              <a:avLst/>
              <a:gdLst/>
              <a:ahLst/>
              <a:cxnLst/>
              <a:rect l="l" t="t" r="r" b="b"/>
              <a:pathLst>
                <a:path w="1387877" h="1403471">
                  <a:moveTo>
                    <a:pt x="0" y="0"/>
                  </a:moveTo>
                  <a:lnTo>
                    <a:pt x="1387877" y="0"/>
                  </a:lnTo>
                  <a:lnTo>
                    <a:pt x="1387877" y="1403471"/>
                  </a:lnTo>
                  <a:lnTo>
                    <a:pt x="0" y="140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40277" y="425447"/>
              <a:ext cx="10809914" cy="595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8"/>
                </a:lnSpc>
              </a:pPr>
              <a:r>
                <a:rPr lang="en-US" sz="3107" b="1">
                  <a:solidFill>
                    <a:srgbClr val="FCFEFD"/>
                  </a:solidFill>
                  <a:latin typeface="Sukar Heavy"/>
                  <a:ea typeface="Sukar Heavy"/>
                  <a:cs typeface="Sukar Heavy"/>
                  <a:sym typeface="Sukar Heavy"/>
                </a:rPr>
                <a:t>UNIVERSITAS LANCANG KUNING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517157" y="1712606"/>
            <a:ext cx="13094908" cy="980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73"/>
              </a:lnSpc>
            </a:pPr>
            <a:r>
              <a:rPr lang="en-US" sz="7473" b="1">
                <a:solidFill>
                  <a:srgbClr val="FCFEFD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KESIMPULAN 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422394" y="3436220"/>
            <a:ext cx="976914" cy="97691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AB0B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84627" y="3741859"/>
            <a:ext cx="976914" cy="422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5"/>
              </a:lnSpc>
            </a:pPr>
            <a:r>
              <a:rPr lang="en-US" sz="3145" b="1">
                <a:solidFill>
                  <a:srgbClr val="FCFEFD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92239" y="3302604"/>
            <a:ext cx="14782059" cy="207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CFEFD"/>
                </a:solidFill>
                <a:latin typeface="Sukar"/>
                <a:ea typeface="Sukar"/>
                <a:cs typeface="Sukar"/>
                <a:sym typeface="Sukar"/>
              </a:rPr>
              <a:t>1. Berhasil merancang website company profile responsif (Next.js &amp; Tailwind CSS) yang menampilkan profil, layanan hukum, dan data tim advokat secara interaktif.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41033" y="6299933"/>
            <a:ext cx="976914" cy="968394"/>
            <a:chOff x="0" y="0"/>
            <a:chExt cx="812800" cy="80571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05711"/>
            </a:xfrm>
            <a:custGeom>
              <a:avLst/>
              <a:gdLst/>
              <a:ahLst/>
              <a:cxnLst/>
              <a:rect l="l" t="t" r="r" b="b"/>
              <a:pathLst>
                <a:path w="812800" h="805711">
                  <a:moveTo>
                    <a:pt x="406400" y="0"/>
                  </a:moveTo>
                  <a:cubicBezTo>
                    <a:pt x="181951" y="0"/>
                    <a:pt x="0" y="180365"/>
                    <a:pt x="0" y="402856"/>
                  </a:cubicBezTo>
                  <a:cubicBezTo>
                    <a:pt x="0" y="625347"/>
                    <a:pt x="181951" y="805711"/>
                    <a:pt x="406400" y="805711"/>
                  </a:cubicBezTo>
                  <a:cubicBezTo>
                    <a:pt x="630849" y="805711"/>
                    <a:pt x="812800" y="625347"/>
                    <a:pt x="812800" y="402856"/>
                  </a:cubicBezTo>
                  <a:cubicBezTo>
                    <a:pt x="812800" y="18036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C4F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37435"/>
              <a:ext cx="660400" cy="6927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41033" y="6622038"/>
            <a:ext cx="976914" cy="422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5"/>
              </a:lnSpc>
            </a:pPr>
            <a:r>
              <a:rPr lang="en-US" sz="3145" b="1">
                <a:solidFill>
                  <a:srgbClr val="FCFEFD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02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20884" y="6084131"/>
            <a:ext cx="16067116" cy="207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CFEFD"/>
                </a:solidFill>
                <a:latin typeface="Sukar"/>
                <a:ea typeface="Sukar"/>
                <a:cs typeface="Sukar"/>
                <a:sym typeface="Sukar"/>
              </a:rPr>
              <a:t>2. Berhasil mengintegrasikan panel admin CMS berbasis web menggunakan Firebase Authentication &amp; Firestore untuk kemandirian publikasi berita oleh staf firma.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73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7850" y="0"/>
            <a:ext cx="19837478" cy="11505737"/>
          </a:xfrm>
          <a:custGeom>
            <a:avLst/>
            <a:gdLst/>
            <a:ahLst/>
            <a:cxnLst/>
            <a:rect l="l" t="t" r="r" b="b"/>
            <a:pathLst>
              <a:path w="19837478" h="11505737">
                <a:moveTo>
                  <a:pt x="0" y="0"/>
                </a:moveTo>
                <a:lnTo>
                  <a:pt x="19837478" y="0"/>
                </a:lnTo>
                <a:lnTo>
                  <a:pt x="19837478" y="11505737"/>
                </a:lnTo>
                <a:lnTo>
                  <a:pt x="0" y="115057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5400000" flipH="1">
            <a:off x="200544" y="-521496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-371580" y="-2280737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 rot="-5400000" flipH="1">
            <a:off x="13889068" y="5987800"/>
            <a:ext cx="4198388" cy="4820696"/>
          </a:xfrm>
          <a:custGeom>
            <a:avLst/>
            <a:gdLst/>
            <a:ahLst/>
            <a:cxnLst/>
            <a:rect l="l" t="t" r="r" b="b"/>
            <a:pathLst>
              <a:path w="4198388" h="4820696">
                <a:moveTo>
                  <a:pt x="4198388" y="0"/>
                </a:moveTo>
                <a:lnTo>
                  <a:pt x="0" y="0"/>
                </a:lnTo>
                <a:lnTo>
                  <a:pt x="0" y="4820696"/>
                </a:lnTo>
                <a:lnTo>
                  <a:pt x="4198388" y="4820696"/>
                </a:lnTo>
                <a:lnTo>
                  <a:pt x="41983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 rot="-10800000">
            <a:off x="14418840" y="7843979"/>
            <a:ext cx="4240740" cy="4723759"/>
          </a:xfrm>
          <a:custGeom>
            <a:avLst/>
            <a:gdLst/>
            <a:ahLst/>
            <a:cxnLst/>
            <a:rect l="l" t="t" r="r" b="b"/>
            <a:pathLst>
              <a:path w="4240740" h="4723759">
                <a:moveTo>
                  <a:pt x="0" y="0"/>
                </a:moveTo>
                <a:lnTo>
                  <a:pt x="4240740" y="0"/>
                </a:lnTo>
                <a:lnTo>
                  <a:pt x="4240740" y="4723758"/>
                </a:lnTo>
                <a:lnTo>
                  <a:pt x="0" y="4723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 rot="-8586571" flipH="1">
            <a:off x="-2791741" y="8811023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 rot="2213428" flipH="1">
            <a:off x="13329770" y="-1149071"/>
            <a:ext cx="7749971" cy="2625048"/>
          </a:xfrm>
          <a:custGeom>
            <a:avLst/>
            <a:gdLst/>
            <a:ahLst/>
            <a:cxnLst/>
            <a:rect l="l" t="t" r="r" b="b"/>
            <a:pathLst>
              <a:path w="7749971" h="2625048">
                <a:moveTo>
                  <a:pt x="7749971" y="0"/>
                </a:moveTo>
                <a:lnTo>
                  <a:pt x="0" y="0"/>
                </a:lnTo>
                <a:lnTo>
                  <a:pt x="0" y="2625048"/>
                </a:lnTo>
                <a:lnTo>
                  <a:pt x="7749971" y="2625048"/>
                </a:lnTo>
                <a:lnTo>
                  <a:pt x="77499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9" name="Freeform 9"/>
          <p:cNvSpPr/>
          <p:nvPr/>
        </p:nvSpPr>
        <p:spPr>
          <a:xfrm rot="-5832155">
            <a:off x="-2643337" y="5103858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0" y="0"/>
                </a:moveTo>
                <a:lnTo>
                  <a:pt x="8784254" y="0"/>
                </a:lnTo>
                <a:lnTo>
                  <a:pt x="8784254" y="9013694"/>
                </a:lnTo>
                <a:lnTo>
                  <a:pt x="0" y="9013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 rot="-5832155" flipH="1" flipV="1">
            <a:off x="12147083" y="-3830552"/>
            <a:ext cx="8784254" cy="9013694"/>
          </a:xfrm>
          <a:custGeom>
            <a:avLst/>
            <a:gdLst/>
            <a:ahLst/>
            <a:cxnLst/>
            <a:rect l="l" t="t" r="r" b="b"/>
            <a:pathLst>
              <a:path w="8784254" h="9013694">
                <a:moveTo>
                  <a:pt x="8784254" y="9013694"/>
                </a:moveTo>
                <a:lnTo>
                  <a:pt x="0" y="9013694"/>
                </a:lnTo>
                <a:lnTo>
                  <a:pt x="0" y="0"/>
                </a:lnTo>
                <a:lnTo>
                  <a:pt x="8784254" y="0"/>
                </a:lnTo>
                <a:lnTo>
                  <a:pt x="8784254" y="9013694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>
            <a:off x="129501" y="163453"/>
            <a:ext cx="9262643" cy="1052603"/>
            <a:chOff x="0" y="0"/>
            <a:chExt cx="12350191" cy="14034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87877" cy="1403471"/>
            </a:xfrm>
            <a:custGeom>
              <a:avLst/>
              <a:gdLst/>
              <a:ahLst/>
              <a:cxnLst/>
              <a:rect l="l" t="t" r="r" b="b"/>
              <a:pathLst>
                <a:path w="1387877" h="1403471">
                  <a:moveTo>
                    <a:pt x="0" y="0"/>
                  </a:moveTo>
                  <a:lnTo>
                    <a:pt x="1387877" y="0"/>
                  </a:lnTo>
                  <a:lnTo>
                    <a:pt x="1387877" y="1403471"/>
                  </a:lnTo>
                  <a:lnTo>
                    <a:pt x="0" y="140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40277" y="425447"/>
              <a:ext cx="10809914" cy="595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8"/>
                </a:lnSpc>
              </a:pPr>
              <a:r>
                <a:rPr lang="en-US" sz="3107" b="1">
                  <a:solidFill>
                    <a:srgbClr val="FCFEFD"/>
                  </a:solidFill>
                  <a:latin typeface="Sukar Heavy"/>
                  <a:ea typeface="Sukar Heavy"/>
                  <a:cs typeface="Sukar Heavy"/>
                  <a:sym typeface="Sukar Heavy"/>
                </a:rPr>
                <a:t>UNIVERSITAS LANCANG KUNING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796552" y="4840576"/>
            <a:ext cx="7191186" cy="1026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3"/>
              </a:lnSpc>
            </a:pPr>
            <a:r>
              <a:rPr lang="en-US" sz="7773" b="1">
                <a:solidFill>
                  <a:srgbClr val="F5AB0B"/>
                </a:solidFill>
                <a:latin typeface="Inter Bold"/>
                <a:ea typeface="Inter Bold"/>
                <a:cs typeface="Inter Bold"/>
                <a:sym typeface="Inter Bold"/>
              </a:rPr>
              <a:t>TERIMA </a:t>
            </a:r>
            <a:r>
              <a:rPr lang="en-US" sz="7773" b="1">
                <a:solidFill>
                  <a:srgbClr val="002C4F"/>
                </a:solidFill>
                <a:latin typeface="Inter Bold"/>
                <a:ea typeface="Inter Bold"/>
                <a:cs typeface="Inter Bold"/>
                <a:sym typeface="Inter Bold"/>
              </a:rPr>
              <a:t>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1811</Words>
  <Application>Microsoft Office PowerPoint</Application>
  <PresentationFormat>Custom</PresentationFormat>
  <Paragraphs>137</Paragraphs>
  <Slides>25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Arial</vt:lpstr>
      <vt:lpstr>Calibri</vt:lpstr>
      <vt:lpstr>Sukar Bold</vt:lpstr>
      <vt:lpstr>DM Sans</vt:lpstr>
      <vt:lpstr>Inter Bold</vt:lpstr>
      <vt:lpstr>Sukar</vt:lpstr>
      <vt:lpstr>Inter Ultra-Bold</vt:lpstr>
      <vt:lpstr>Oswald</vt:lpstr>
      <vt:lpstr>Inter Heavy</vt:lpstr>
      <vt:lpstr>Sukar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 Case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Biru Kuning Putih Modern Sidang Skripsi Presentasi</dc:title>
  <cp:lastModifiedBy>asus asus</cp:lastModifiedBy>
  <cp:revision>2</cp:revision>
  <dcterms:created xsi:type="dcterms:W3CDTF">2006-08-16T00:00:00Z</dcterms:created>
  <dcterms:modified xsi:type="dcterms:W3CDTF">2026-07-15T01:05:59Z</dcterms:modified>
  <dc:identifier>DAGsKZ_ZzSc</dc:identifier>
</cp:coreProperties>
</file>