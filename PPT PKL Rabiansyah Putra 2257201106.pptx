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Inter Heavy" charset="1" panose="02000503000000020004"/>
      <p:regular r:id="rId31"/>
    </p:embeddedFont>
    <p:embeddedFont>
      <p:font typeface="Sukar Bold" charset="1" panose="02000500000000000000"/>
      <p:regular r:id="rId32"/>
    </p:embeddedFont>
    <p:embeddedFont>
      <p:font typeface="Inter Bold" charset="1" panose="020B0802030000000004"/>
      <p:regular r:id="rId33"/>
    </p:embeddedFont>
    <p:embeddedFont>
      <p:font typeface="Sukar Heavy" charset="1" panose="02000500000000000000"/>
      <p:regular r:id="rId34"/>
    </p:embeddedFont>
    <p:embeddedFont>
      <p:font typeface="Oswald" charset="1" panose="00000500000000000000"/>
      <p:regular r:id="rId35"/>
    </p:embeddedFont>
    <p:embeddedFont>
      <p:font typeface="DM Sans" charset="1" panose="00000000000000000000"/>
      <p:regular r:id="rId36"/>
    </p:embeddedFont>
    <p:embeddedFont>
      <p:font typeface="Inter Ultra-Bold" charset="1" panose="02000503000000020004"/>
      <p:regular r:id="rId37"/>
    </p:embeddedFont>
    <p:embeddedFont>
      <p:font typeface="Sukar" charset="1" panose="020005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0.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16.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17.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18.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19.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20.png" Type="http://schemas.openxmlformats.org/officeDocument/2006/relationships/image"/><Relationship Id="rId12" Target="../media/image21.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22.png" Type="http://schemas.openxmlformats.org/officeDocument/2006/relationships/image"/><Relationship Id="rId12" Target="../media/image23.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28.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29.png" Type="http://schemas.openxmlformats.org/officeDocument/2006/relationships/image"/><Relationship Id="rId12" Target="../media/image30.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31.png" Type="http://schemas.openxmlformats.org/officeDocument/2006/relationships/image"/><Relationship Id="rId12" Target="../media/image32.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33.png" Type="http://schemas.openxmlformats.org/officeDocument/2006/relationships/image"/><Relationship Id="rId12" Target="../media/image34.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35.png" Type="http://schemas.openxmlformats.org/officeDocument/2006/relationships/image"/><Relationship Id="rId12" Target="../media/image36.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12" Target="../media/image37.png" Type="http://schemas.openxmlformats.org/officeDocument/2006/relationships/image"/><Relationship Id="rId13" Target="../media/image3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12" Target="../media/image39.png" Type="http://schemas.openxmlformats.org/officeDocument/2006/relationships/image"/><Relationship Id="rId13" Target="../media/image4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12" Target="../media/image43.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38190" y="2832466"/>
            <a:ext cx="17860755" cy="2136072"/>
          </a:xfrm>
          <a:prstGeom prst="rect">
            <a:avLst/>
          </a:prstGeom>
        </p:spPr>
        <p:txBody>
          <a:bodyPr anchor="t" rtlCol="false" tIns="0" lIns="0" bIns="0" rIns="0">
            <a:spAutoFit/>
          </a:bodyPr>
          <a:lstStyle/>
          <a:p>
            <a:pPr algn="ctr">
              <a:lnSpc>
                <a:spcPts val="5476"/>
              </a:lnSpc>
            </a:pPr>
            <a:r>
              <a:rPr lang="en-US" b="true" sz="5476">
                <a:solidFill>
                  <a:srgbClr val="FFFFFF"/>
                </a:solidFill>
                <a:latin typeface="Inter Heavy"/>
                <a:ea typeface="Inter Heavy"/>
                <a:cs typeface="Inter Heavy"/>
                <a:sym typeface="Inter Heavy"/>
              </a:rPr>
              <a:t>PERANCANGAN SISTEM INFORMASI AKADEMIK BERBASIS WEB PADA SDN 004 HIDUP BARU MENGGUNAKAN METODE WATERFALL</a:t>
            </a:r>
          </a:p>
        </p:txBody>
      </p:sp>
      <p:sp>
        <p:nvSpPr>
          <p:cNvPr name="TextBox 12" id="12"/>
          <p:cNvSpPr txBox="true"/>
          <p:nvPr/>
        </p:nvSpPr>
        <p:spPr>
          <a:xfrm rot="0">
            <a:off x="13267635" y="1205034"/>
            <a:ext cx="7583280" cy="586888"/>
          </a:xfrm>
          <a:prstGeom prst="rect">
            <a:avLst/>
          </a:prstGeom>
        </p:spPr>
        <p:txBody>
          <a:bodyPr anchor="t" rtlCol="false" tIns="0" lIns="0" bIns="0" rIns="0">
            <a:spAutoFit/>
          </a:bodyPr>
          <a:lstStyle/>
          <a:p>
            <a:pPr algn="l">
              <a:lnSpc>
                <a:spcPts val="4632"/>
              </a:lnSpc>
            </a:pPr>
            <a:r>
              <a:rPr lang="en-US" sz="4211" b="true">
                <a:solidFill>
                  <a:srgbClr val="EEEEEE"/>
                </a:solidFill>
                <a:latin typeface="Sukar Bold"/>
                <a:ea typeface="Sukar Bold"/>
                <a:cs typeface="Sukar Bold"/>
                <a:sym typeface="Sukar Bold"/>
              </a:rPr>
              <a:t>SEMINAR PKL</a:t>
            </a:r>
          </a:p>
        </p:txBody>
      </p:sp>
      <p:sp>
        <p:nvSpPr>
          <p:cNvPr name="TextBox 13" id="13"/>
          <p:cNvSpPr txBox="true"/>
          <p:nvPr/>
        </p:nvSpPr>
        <p:spPr>
          <a:xfrm rot="0">
            <a:off x="6036576" y="5564160"/>
            <a:ext cx="5868818" cy="1207135"/>
          </a:xfrm>
          <a:prstGeom prst="rect">
            <a:avLst/>
          </a:prstGeom>
        </p:spPr>
        <p:txBody>
          <a:bodyPr anchor="t" rtlCol="false" tIns="0" lIns="0" bIns="0" rIns="0">
            <a:spAutoFit/>
          </a:bodyPr>
          <a:lstStyle/>
          <a:p>
            <a:pPr algn="ctr">
              <a:lnSpc>
                <a:spcPts val="4729"/>
              </a:lnSpc>
            </a:pPr>
            <a:r>
              <a:rPr lang="en-US" sz="4299" b="true">
                <a:solidFill>
                  <a:srgbClr val="FCFEFD"/>
                </a:solidFill>
                <a:latin typeface="Sukar Bold"/>
                <a:ea typeface="Sukar Bold"/>
                <a:cs typeface="Sukar Bold"/>
                <a:sym typeface="Sukar Bold"/>
              </a:rPr>
              <a:t>Rabiansyah Putra</a:t>
            </a:r>
          </a:p>
          <a:p>
            <a:pPr algn="ctr">
              <a:lnSpc>
                <a:spcPts val="4729"/>
              </a:lnSpc>
            </a:pPr>
            <a:r>
              <a:rPr lang="en-US" sz="4299" b="true">
                <a:solidFill>
                  <a:srgbClr val="FCFEFD"/>
                </a:solidFill>
                <a:latin typeface="Sukar Bold"/>
                <a:ea typeface="Sukar Bold"/>
                <a:cs typeface="Sukar Bold"/>
                <a:sym typeface="Sukar Bold"/>
              </a:rPr>
              <a:t>NIM. 2257201106</a:t>
            </a:r>
          </a:p>
        </p:txBody>
      </p:sp>
      <p:sp>
        <p:nvSpPr>
          <p:cNvPr name="TextBox 14" id="14"/>
          <p:cNvSpPr txBox="true"/>
          <p:nvPr/>
        </p:nvSpPr>
        <p:spPr>
          <a:xfrm rot="0">
            <a:off x="4791145" y="8236349"/>
            <a:ext cx="8859644" cy="1207135"/>
          </a:xfrm>
          <a:prstGeom prst="rect">
            <a:avLst/>
          </a:prstGeom>
        </p:spPr>
        <p:txBody>
          <a:bodyPr anchor="t" rtlCol="false" tIns="0" lIns="0" bIns="0" rIns="0">
            <a:spAutoFit/>
          </a:bodyPr>
          <a:lstStyle/>
          <a:p>
            <a:pPr algn="ctr">
              <a:lnSpc>
                <a:spcPts val="4729"/>
              </a:lnSpc>
            </a:pPr>
            <a:r>
              <a:rPr lang="en-US" sz="4299" b="true">
                <a:solidFill>
                  <a:srgbClr val="FCFEFD"/>
                </a:solidFill>
                <a:latin typeface="Sukar Bold"/>
                <a:ea typeface="Sukar Bold"/>
                <a:cs typeface="Sukar Bold"/>
                <a:sym typeface="Sukar Bold"/>
              </a:rPr>
              <a:t>Dr. Zamzami, M.Kom., MTA., MCF</a:t>
            </a:r>
          </a:p>
          <a:p>
            <a:pPr algn="ctr">
              <a:lnSpc>
                <a:spcPts val="4729"/>
              </a:lnSpc>
            </a:pPr>
            <a:r>
              <a:rPr lang="en-US" sz="4299" b="true">
                <a:solidFill>
                  <a:srgbClr val="FCFEFD"/>
                </a:solidFill>
                <a:latin typeface="Sukar Bold"/>
                <a:ea typeface="Sukar Bold"/>
                <a:cs typeface="Sukar Bold"/>
                <a:sym typeface="Sukar Bold"/>
              </a:rPr>
              <a:t>NIDN. 0212127501</a:t>
            </a:r>
          </a:p>
        </p:txBody>
      </p:sp>
      <p:sp>
        <p:nvSpPr>
          <p:cNvPr name="TextBox 15" id="15"/>
          <p:cNvSpPr txBox="true"/>
          <p:nvPr/>
        </p:nvSpPr>
        <p:spPr>
          <a:xfrm rot="0">
            <a:off x="6444288" y="7596224"/>
            <a:ext cx="4977195" cy="411525"/>
          </a:xfrm>
          <a:prstGeom prst="rect">
            <a:avLst/>
          </a:prstGeom>
        </p:spPr>
        <p:txBody>
          <a:bodyPr anchor="t" rtlCol="false" tIns="0" lIns="0" bIns="0" rIns="0">
            <a:spAutoFit/>
          </a:bodyPr>
          <a:lstStyle/>
          <a:p>
            <a:pPr algn="ctr">
              <a:lnSpc>
                <a:spcPts val="3076"/>
              </a:lnSpc>
            </a:pPr>
            <a:r>
              <a:rPr lang="en-US" b="true" sz="3076">
                <a:solidFill>
                  <a:srgbClr val="FCFEFD"/>
                </a:solidFill>
                <a:latin typeface="Inter Bold"/>
                <a:ea typeface="Inter Bold"/>
                <a:cs typeface="Inter Bold"/>
                <a:sym typeface="Inter Bold"/>
              </a:rPr>
              <a:t>DOSEN  PEMBIMBING:</a:t>
            </a:r>
          </a:p>
        </p:txBody>
      </p:sp>
      <p:grpSp>
        <p:nvGrpSpPr>
          <p:cNvPr name="Group 16" id="16"/>
          <p:cNvGrpSpPr/>
          <p:nvPr/>
        </p:nvGrpSpPr>
        <p:grpSpPr>
          <a:xfrm rot="0">
            <a:off x="129501" y="163453"/>
            <a:ext cx="9262643" cy="1052603"/>
            <a:chOff x="0" y="0"/>
            <a:chExt cx="12350191" cy="1403471"/>
          </a:xfrm>
        </p:grpSpPr>
        <p:sp>
          <p:nvSpPr>
            <p:cNvPr name="Freeform 17" id="17"/>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8" id="18"/>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0800000">
            <a:off x="1055972" y="1028700"/>
            <a:ext cx="16176056" cy="8229600"/>
            <a:chOff x="0" y="0"/>
            <a:chExt cx="6025367" cy="3065417"/>
          </a:xfrm>
        </p:grpSpPr>
        <p:sp>
          <p:nvSpPr>
            <p:cNvPr name="Freeform 5" id="5"/>
            <p:cNvSpPr/>
            <p:nvPr/>
          </p:nvSpPr>
          <p:spPr>
            <a:xfrm flipH="false" flipV="false" rot="0">
              <a:off x="0" y="0"/>
              <a:ext cx="6025367" cy="3065417"/>
            </a:xfrm>
            <a:custGeom>
              <a:avLst/>
              <a:gdLst/>
              <a:ahLst/>
              <a:cxnLst/>
              <a:rect r="r" b="b" t="t" l="l"/>
              <a:pathLst>
                <a:path h="3065417" w="6025367">
                  <a:moveTo>
                    <a:pt x="9572" y="0"/>
                  </a:moveTo>
                  <a:lnTo>
                    <a:pt x="6015795" y="0"/>
                  </a:lnTo>
                  <a:cubicBezTo>
                    <a:pt x="6018333" y="0"/>
                    <a:pt x="6020768" y="1008"/>
                    <a:pt x="6022563" y="2804"/>
                  </a:cubicBezTo>
                  <a:cubicBezTo>
                    <a:pt x="6024358" y="4599"/>
                    <a:pt x="6025367" y="7033"/>
                    <a:pt x="6025367" y="9572"/>
                  </a:cubicBezTo>
                  <a:lnTo>
                    <a:pt x="6025367" y="3055845"/>
                  </a:lnTo>
                  <a:cubicBezTo>
                    <a:pt x="6025367" y="3058384"/>
                    <a:pt x="6024358" y="3060818"/>
                    <a:pt x="6022563" y="3062614"/>
                  </a:cubicBezTo>
                  <a:cubicBezTo>
                    <a:pt x="6020768" y="3064409"/>
                    <a:pt x="6018333" y="3065417"/>
                    <a:pt x="6015795" y="3065417"/>
                  </a:cubicBezTo>
                  <a:lnTo>
                    <a:pt x="9572" y="3065417"/>
                  </a:lnTo>
                  <a:cubicBezTo>
                    <a:pt x="7033" y="3065417"/>
                    <a:pt x="4599" y="3064409"/>
                    <a:pt x="2804" y="3062614"/>
                  </a:cubicBezTo>
                  <a:cubicBezTo>
                    <a:pt x="1008" y="3060818"/>
                    <a:pt x="0" y="3058384"/>
                    <a:pt x="0" y="3055845"/>
                  </a:cubicBezTo>
                  <a:lnTo>
                    <a:pt x="0" y="9572"/>
                  </a:lnTo>
                  <a:cubicBezTo>
                    <a:pt x="0" y="7033"/>
                    <a:pt x="1008" y="4599"/>
                    <a:pt x="2804" y="2804"/>
                  </a:cubicBezTo>
                  <a:cubicBezTo>
                    <a:pt x="4599" y="1008"/>
                    <a:pt x="7033" y="0"/>
                    <a:pt x="9572" y="0"/>
                  </a:cubicBezTo>
                  <a:close/>
                </a:path>
              </a:pathLst>
            </a:custGeom>
            <a:solidFill>
              <a:srgbClr val="EEEEEE"/>
            </a:solidFill>
            <a:ln cap="sq">
              <a:noFill/>
              <a:prstDash val="solid"/>
              <a:miter/>
            </a:ln>
          </p:spPr>
        </p:sp>
        <p:sp>
          <p:nvSpPr>
            <p:cNvPr name="TextBox 6" id="6"/>
            <p:cNvSpPr txBox="true"/>
            <p:nvPr/>
          </p:nvSpPr>
          <p:spPr>
            <a:xfrm>
              <a:off x="0" y="-19050"/>
              <a:ext cx="6025367" cy="3084467"/>
            </a:xfrm>
            <a:prstGeom prst="rect">
              <a:avLst/>
            </a:prstGeom>
          </p:spPr>
          <p:txBody>
            <a:bodyPr anchor="ctr" rtlCol="false" tIns="35919" lIns="35919" bIns="35919" rIns="35919"/>
            <a:lstStyle/>
            <a:p>
              <a:pPr algn="ctr" marL="0" indent="0" lvl="0">
                <a:lnSpc>
                  <a:spcPts val="1247"/>
                </a:lnSpc>
                <a:spcBef>
                  <a:spcPct val="0"/>
                </a:spcBef>
              </a:pPr>
            </a:p>
          </p:txBody>
        </p:sp>
      </p:grpSp>
      <p:sp>
        <p:nvSpPr>
          <p:cNvPr name="Freeform 7" id="7"/>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4760823" y="1197006"/>
            <a:ext cx="8817091" cy="1257962"/>
          </a:xfrm>
          <a:prstGeom prst="rect">
            <a:avLst/>
          </a:prstGeom>
        </p:spPr>
        <p:txBody>
          <a:bodyPr anchor="t" rtlCol="false" tIns="0" lIns="0" bIns="0" rIns="0">
            <a:spAutoFit/>
          </a:bodyPr>
          <a:lstStyle/>
          <a:p>
            <a:pPr algn="ctr">
              <a:lnSpc>
                <a:spcPts val="10035"/>
              </a:lnSpc>
            </a:pPr>
            <a:r>
              <a:rPr lang="en-US" sz="8158">
                <a:solidFill>
                  <a:srgbClr val="052A50"/>
                </a:solidFill>
                <a:latin typeface="Oswald"/>
                <a:ea typeface="Oswald"/>
                <a:cs typeface="Oswald"/>
                <a:sym typeface="Oswald"/>
              </a:rPr>
              <a:t>LATAR BELAKANG</a:t>
            </a:r>
          </a:p>
        </p:txBody>
      </p:sp>
      <p:sp>
        <p:nvSpPr>
          <p:cNvPr name="TextBox 11" id="11"/>
          <p:cNvSpPr txBox="true"/>
          <p:nvPr/>
        </p:nvSpPr>
        <p:spPr>
          <a:xfrm rot="0">
            <a:off x="2803435" y="3404055"/>
            <a:ext cx="12681130" cy="3724275"/>
          </a:xfrm>
          <a:prstGeom prst="rect">
            <a:avLst/>
          </a:prstGeom>
        </p:spPr>
        <p:txBody>
          <a:bodyPr anchor="t" rtlCol="false" tIns="0" lIns="0" bIns="0" rIns="0">
            <a:spAutoFit/>
          </a:bodyPr>
          <a:lstStyle/>
          <a:p>
            <a:pPr algn="just">
              <a:lnSpc>
                <a:spcPts val="4200"/>
              </a:lnSpc>
            </a:pPr>
            <a:r>
              <a:rPr lang="en-US" sz="3000" spc="60">
                <a:solidFill>
                  <a:srgbClr val="3F3F3F"/>
                </a:solidFill>
                <a:latin typeface="DM Sans"/>
                <a:ea typeface="DM Sans"/>
                <a:cs typeface="DM Sans"/>
                <a:sym typeface="DM Sans"/>
              </a:rPr>
              <a:t>Dunia pendidikan saat ini dituntut untuk mampu mengikuti perkembangan teknologi guna meningkatkan kualitas layanan administrasi, akademik, dan komunikasi antara pihak sekolah dengan orang tua siswa. Salah satu upaya penting yang dapat dilakukan adalah membangun sistem informasi akademik berbasis web untuk mempermudah pengelolaan data siswa, laporan nilai, jadwal pelajaran, serta informasi akademik lainnya.</a:t>
            </a:r>
          </a:p>
        </p:txBody>
      </p:sp>
      <p:grpSp>
        <p:nvGrpSpPr>
          <p:cNvPr name="Group 12" id="12"/>
          <p:cNvGrpSpPr/>
          <p:nvPr/>
        </p:nvGrpSpPr>
        <p:grpSpPr>
          <a:xfrm rot="0">
            <a:off x="129501" y="163453"/>
            <a:ext cx="9262643" cy="1052603"/>
            <a:chOff x="0" y="0"/>
            <a:chExt cx="12350191" cy="1403471"/>
          </a:xfrm>
        </p:grpSpPr>
        <p:sp>
          <p:nvSpPr>
            <p:cNvPr name="Freeform 13" id="13"/>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8"/>
              <a:stretch>
                <a:fillRect l="0" t="0" r="0" b="0"/>
              </a:stretch>
            </a:blipFill>
          </p:spPr>
        </p:sp>
        <p:sp>
          <p:nvSpPr>
            <p:cNvPr name="TextBox 14" id="14"/>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424573" y="2443021"/>
            <a:ext cx="15935143" cy="5237666"/>
            <a:chOff x="0" y="0"/>
            <a:chExt cx="21246857" cy="6983554"/>
          </a:xfrm>
        </p:grpSpPr>
        <p:grpSp>
          <p:nvGrpSpPr>
            <p:cNvPr name="Group 13" id="13"/>
            <p:cNvGrpSpPr/>
            <p:nvPr/>
          </p:nvGrpSpPr>
          <p:grpSpPr>
            <a:xfrm rot="0">
              <a:off x="0" y="1877920"/>
              <a:ext cx="1302552" cy="130255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4828787"/>
              <a:ext cx="1302552" cy="130255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4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041676" y="114300"/>
              <a:ext cx="13038432" cy="1198047"/>
            </a:xfrm>
            <a:prstGeom prst="rect">
              <a:avLst/>
            </a:prstGeom>
          </p:spPr>
          <p:txBody>
            <a:bodyPr anchor="t" rtlCol="false" tIns="0" lIns="0" bIns="0" rIns="0">
              <a:spAutoFit/>
            </a:bodyPr>
            <a:lstStyle/>
            <a:p>
              <a:pPr algn="ctr">
                <a:lnSpc>
                  <a:spcPts val="6500"/>
                </a:lnSpc>
              </a:pPr>
              <a:r>
                <a:rPr lang="en-US" b="true" sz="6500">
                  <a:solidFill>
                    <a:srgbClr val="FCFEFD"/>
                  </a:solidFill>
                  <a:latin typeface="Inter Ultra-Bold"/>
                  <a:ea typeface="Inter Ultra-Bold"/>
                  <a:cs typeface="Inter Ultra-Bold"/>
                  <a:sym typeface="Inter Ultra-Bold"/>
                </a:rPr>
                <a:t>RUMUSAN MASALAH</a:t>
              </a:r>
            </a:p>
          </p:txBody>
        </p:sp>
        <p:sp>
          <p:nvSpPr>
            <p:cNvPr name="TextBox 20" id="20"/>
            <p:cNvSpPr txBox="true"/>
            <p:nvPr/>
          </p:nvSpPr>
          <p:spPr>
            <a:xfrm rot="0">
              <a:off x="9994" y="2317188"/>
              <a:ext cx="1302552" cy="582766"/>
            </a:xfrm>
            <a:prstGeom prst="rect">
              <a:avLst/>
            </a:prstGeom>
          </p:spPr>
          <p:txBody>
            <a:bodyPr anchor="t" rtlCol="false" tIns="0" lIns="0" bIns="0" rIns="0">
              <a:spAutoFit/>
            </a:bodyPr>
            <a:lstStyle/>
            <a:p>
              <a:pPr algn="ctr">
                <a:lnSpc>
                  <a:spcPts val="3145"/>
                </a:lnSpc>
              </a:pPr>
              <a:r>
                <a:rPr lang="en-US" b="true" sz="3145">
                  <a:solidFill>
                    <a:srgbClr val="FCFEFD"/>
                  </a:solidFill>
                  <a:latin typeface="Inter Ultra-Bold"/>
                  <a:ea typeface="Inter Ultra-Bold"/>
                  <a:cs typeface="Inter Ultra-Bold"/>
                  <a:sym typeface="Inter Ultra-Bold"/>
                </a:rPr>
                <a:t>01</a:t>
              </a:r>
            </a:p>
          </p:txBody>
        </p:sp>
        <p:sp>
          <p:nvSpPr>
            <p:cNvPr name="TextBox 21" id="21"/>
            <p:cNvSpPr txBox="true"/>
            <p:nvPr/>
          </p:nvSpPr>
          <p:spPr>
            <a:xfrm rot="0">
              <a:off x="9994" y="5230846"/>
              <a:ext cx="1302552" cy="582766"/>
            </a:xfrm>
            <a:prstGeom prst="rect">
              <a:avLst/>
            </a:prstGeom>
          </p:spPr>
          <p:txBody>
            <a:bodyPr anchor="t" rtlCol="false" tIns="0" lIns="0" bIns="0" rIns="0">
              <a:spAutoFit/>
            </a:bodyPr>
            <a:lstStyle/>
            <a:p>
              <a:pPr algn="ctr">
                <a:lnSpc>
                  <a:spcPts val="3145"/>
                </a:lnSpc>
              </a:pPr>
              <a:r>
                <a:rPr lang="en-US" b="true" sz="3145">
                  <a:solidFill>
                    <a:srgbClr val="FCFEFD"/>
                  </a:solidFill>
                  <a:latin typeface="Inter Ultra-Bold"/>
                  <a:ea typeface="Inter Ultra-Bold"/>
                  <a:cs typeface="Inter Ultra-Bold"/>
                  <a:sym typeface="Inter Ultra-Bold"/>
                </a:rPr>
                <a:t>02</a:t>
              </a:r>
            </a:p>
          </p:txBody>
        </p:sp>
        <p:sp>
          <p:nvSpPr>
            <p:cNvPr name="TextBox 22" id="22"/>
            <p:cNvSpPr txBox="true"/>
            <p:nvPr/>
          </p:nvSpPr>
          <p:spPr>
            <a:xfrm rot="0">
              <a:off x="1587911" y="1954120"/>
              <a:ext cx="19658947" cy="1405467"/>
            </a:xfrm>
            <a:prstGeom prst="rect">
              <a:avLst/>
            </a:prstGeom>
          </p:spPr>
          <p:txBody>
            <a:bodyPr anchor="t" rtlCol="false" tIns="0" lIns="0" bIns="0" rIns="0">
              <a:spAutoFit/>
            </a:bodyPr>
            <a:lstStyle/>
            <a:p>
              <a:pPr algn="l">
                <a:lnSpc>
                  <a:spcPts val="4000"/>
                </a:lnSpc>
              </a:pPr>
              <a:r>
                <a:rPr lang="en-US" sz="4000">
                  <a:solidFill>
                    <a:srgbClr val="FCFEFD"/>
                  </a:solidFill>
                  <a:latin typeface="Sukar"/>
                  <a:ea typeface="Sukar"/>
                  <a:cs typeface="Sukar"/>
                  <a:sym typeface="Sukar"/>
                </a:rPr>
                <a:t>Bagaimana merancang sistem informasi akademik berbasis web untuk mempermudah pengelolaan data akademik di SDN 004 Hidup Baru?</a:t>
              </a:r>
            </a:p>
          </p:txBody>
        </p:sp>
        <p:sp>
          <p:nvSpPr>
            <p:cNvPr name="TextBox 23" id="23"/>
            <p:cNvSpPr txBox="true"/>
            <p:nvPr/>
          </p:nvSpPr>
          <p:spPr>
            <a:xfrm rot="0">
              <a:off x="1587911" y="4904987"/>
              <a:ext cx="18526681" cy="2078567"/>
            </a:xfrm>
            <a:prstGeom prst="rect">
              <a:avLst/>
            </a:prstGeom>
          </p:spPr>
          <p:txBody>
            <a:bodyPr anchor="t" rtlCol="false" tIns="0" lIns="0" bIns="0" rIns="0">
              <a:spAutoFit/>
            </a:bodyPr>
            <a:lstStyle/>
            <a:p>
              <a:pPr algn="l">
                <a:lnSpc>
                  <a:spcPts val="4000"/>
                </a:lnSpc>
              </a:pPr>
              <a:r>
                <a:rPr lang="en-US" sz="4000">
                  <a:solidFill>
                    <a:srgbClr val="FCFEFD"/>
                  </a:solidFill>
                  <a:latin typeface="Sukar"/>
                  <a:ea typeface="Sukar"/>
                  <a:cs typeface="Sukar"/>
                  <a:sym typeface="Sukar"/>
                </a:rPr>
                <a:t>Bagaimana mendesain antarmuka (user interface) sistem informasi akademik berbasis website yang mudah digunakan oleh admin, dan guru SDN 004 Hidup Baru?</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424573" y="2443021"/>
            <a:ext cx="15935143" cy="5237666"/>
            <a:chOff x="0" y="0"/>
            <a:chExt cx="21246857" cy="6983554"/>
          </a:xfrm>
        </p:grpSpPr>
        <p:grpSp>
          <p:nvGrpSpPr>
            <p:cNvPr name="Group 13" id="13"/>
            <p:cNvGrpSpPr/>
            <p:nvPr/>
          </p:nvGrpSpPr>
          <p:grpSpPr>
            <a:xfrm rot="0">
              <a:off x="0" y="1877920"/>
              <a:ext cx="1302552" cy="130255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4828787"/>
              <a:ext cx="1302552" cy="130255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4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041676" y="114300"/>
              <a:ext cx="13038432" cy="1198047"/>
            </a:xfrm>
            <a:prstGeom prst="rect">
              <a:avLst/>
            </a:prstGeom>
          </p:spPr>
          <p:txBody>
            <a:bodyPr anchor="t" rtlCol="false" tIns="0" lIns="0" bIns="0" rIns="0">
              <a:spAutoFit/>
            </a:bodyPr>
            <a:lstStyle/>
            <a:p>
              <a:pPr algn="ctr">
                <a:lnSpc>
                  <a:spcPts val="6500"/>
                </a:lnSpc>
              </a:pPr>
              <a:r>
                <a:rPr lang="en-US" b="true" sz="6500">
                  <a:solidFill>
                    <a:srgbClr val="FCFEFD"/>
                  </a:solidFill>
                  <a:latin typeface="Inter Ultra-Bold"/>
                  <a:ea typeface="Inter Ultra-Bold"/>
                  <a:cs typeface="Inter Ultra-Bold"/>
                  <a:sym typeface="Inter Ultra-Bold"/>
                </a:rPr>
                <a:t>TUJUAN PENELITIAN</a:t>
              </a:r>
            </a:p>
          </p:txBody>
        </p:sp>
        <p:sp>
          <p:nvSpPr>
            <p:cNvPr name="TextBox 20" id="20"/>
            <p:cNvSpPr txBox="true"/>
            <p:nvPr/>
          </p:nvSpPr>
          <p:spPr>
            <a:xfrm rot="0">
              <a:off x="9994" y="2317188"/>
              <a:ext cx="1302552" cy="582766"/>
            </a:xfrm>
            <a:prstGeom prst="rect">
              <a:avLst/>
            </a:prstGeom>
          </p:spPr>
          <p:txBody>
            <a:bodyPr anchor="t" rtlCol="false" tIns="0" lIns="0" bIns="0" rIns="0">
              <a:spAutoFit/>
            </a:bodyPr>
            <a:lstStyle/>
            <a:p>
              <a:pPr algn="ctr">
                <a:lnSpc>
                  <a:spcPts val="3145"/>
                </a:lnSpc>
              </a:pPr>
              <a:r>
                <a:rPr lang="en-US" b="true" sz="3145">
                  <a:solidFill>
                    <a:srgbClr val="FCFEFD"/>
                  </a:solidFill>
                  <a:latin typeface="Inter Ultra-Bold"/>
                  <a:ea typeface="Inter Ultra-Bold"/>
                  <a:cs typeface="Inter Ultra-Bold"/>
                  <a:sym typeface="Inter Ultra-Bold"/>
                </a:rPr>
                <a:t>01</a:t>
              </a:r>
            </a:p>
          </p:txBody>
        </p:sp>
        <p:sp>
          <p:nvSpPr>
            <p:cNvPr name="TextBox 21" id="21"/>
            <p:cNvSpPr txBox="true"/>
            <p:nvPr/>
          </p:nvSpPr>
          <p:spPr>
            <a:xfrm rot="0">
              <a:off x="9994" y="5230846"/>
              <a:ext cx="1302552" cy="582766"/>
            </a:xfrm>
            <a:prstGeom prst="rect">
              <a:avLst/>
            </a:prstGeom>
          </p:spPr>
          <p:txBody>
            <a:bodyPr anchor="t" rtlCol="false" tIns="0" lIns="0" bIns="0" rIns="0">
              <a:spAutoFit/>
            </a:bodyPr>
            <a:lstStyle/>
            <a:p>
              <a:pPr algn="ctr">
                <a:lnSpc>
                  <a:spcPts val="3145"/>
                </a:lnSpc>
              </a:pPr>
              <a:r>
                <a:rPr lang="en-US" b="true" sz="3145">
                  <a:solidFill>
                    <a:srgbClr val="FCFEFD"/>
                  </a:solidFill>
                  <a:latin typeface="Inter Ultra-Bold"/>
                  <a:ea typeface="Inter Ultra-Bold"/>
                  <a:cs typeface="Inter Ultra-Bold"/>
                  <a:sym typeface="Inter Ultra-Bold"/>
                </a:rPr>
                <a:t>02</a:t>
              </a:r>
            </a:p>
          </p:txBody>
        </p:sp>
        <p:sp>
          <p:nvSpPr>
            <p:cNvPr name="TextBox 22" id="22"/>
            <p:cNvSpPr txBox="true"/>
            <p:nvPr/>
          </p:nvSpPr>
          <p:spPr>
            <a:xfrm rot="0">
              <a:off x="1587911" y="1954120"/>
              <a:ext cx="19658947" cy="2078567"/>
            </a:xfrm>
            <a:prstGeom prst="rect">
              <a:avLst/>
            </a:prstGeom>
          </p:spPr>
          <p:txBody>
            <a:bodyPr anchor="t" rtlCol="false" tIns="0" lIns="0" bIns="0" rIns="0">
              <a:spAutoFit/>
            </a:bodyPr>
            <a:lstStyle/>
            <a:p>
              <a:pPr algn="l">
                <a:lnSpc>
                  <a:spcPts val="4000"/>
                </a:lnSpc>
              </a:pPr>
              <a:r>
                <a:rPr lang="en-US" sz="4000">
                  <a:solidFill>
                    <a:srgbClr val="FCFEFD"/>
                  </a:solidFill>
                  <a:latin typeface="Sukar"/>
                  <a:ea typeface="Sukar"/>
                  <a:cs typeface="Sukar"/>
                  <a:sym typeface="Sukar"/>
                </a:rPr>
                <a:t>Merancang sistem informasi akademik berbasis web untuk mendukung pengelolaan data siswa, nilai, dan jadwal pelajaran di SDN 004 Hidup Baru.</a:t>
              </a:r>
            </a:p>
          </p:txBody>
        </p:sp>
        <p:sp>
          <p:nvSpPr>
            <p:cNvPr name="TextBox 23" id="23"/>
            <p:cNvSpPr txBox="true"/>
            <p:nvPr/>
          </p:nvSpPr>
          <p:spPr>
            <a:xfrm rot="0">
              <a:off x="1587911" y="4904987"/>
              <a:ext cx="18526681" cy="2078567"/>
            </a:xfrm>
            <a:prstGeom prst="rect">
              <a:avLst/>
            </a:prstGeom>
          </p:spPr>
          <p:txBody>
            <a:bodyPr anchor="t" rtlCol="false" tIns="0" lIns="0" bIns="0" rIns="0">
              <a:spAutoFit/>
            </a:bodyPr>
            <a:lstStyle/>
            <a:p>
              <a:pPr algn="l">
                <a:lnSpc>
                  <a:spcPts val="4000"/>
                </a:lnSpc>
              </a:pPr>
              <a:r>
                <a:rPr lang="en-US" sz="4000">
                  <a:solidFill>
                    <a:srgbClr val="FCFEFD"/>
                  </a:solidFill>
                  <a:latin typeface="Sukar"/>
                  <a:ea typeface="Sukar"/>
                  <a:cs typeface="Sukar"/>
                  <a:sym typeface="Sukar"/>
                </a:rPr>
                <a:t>Merancang desain antarmuka (user interface) sistem akademik berbasis website yang sederhana, intuitif, dan mudah digunakan oleh orang tua, guru, dan admin sekolah.</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7112011" y="3935592"/>
            <a:ext cx="3859916" cy="1446259"/>
            <a:chOff x="0" y="0"/>
            <a:chExt cx="1016603" cy="380908"/>
          </a:xfrm>
        </p:grpSpPr>
        <p:sp>
          <p:nvSpPr>
            <p:cNvPr name="Freeform 13" id="13"/>
            <p:cNvSpPr/>
            <p:nvPr/>
          </p:nvSpPr>
          <p:spPr>
            <a:xfrm flipH="false" flipV="false" rot="0">
              <a:off x="0" y="0"/>
              <a:ext cx="1016603" cy="380908"/>
            </a:xfrm>
            <a:custGeom>
              <a:avLst/>
              <a:gdLst/>
              <a:ahLst/>
              <a:cxnLst/>
              <a:rect r="r" b="b" t="t" l="l"/>
              <a:pathLst>
                <a:path h="380908" w="1016603">
                  <a:moveTo>
                    <a:pt x="100286" y="0"/>
                  </a:moveTo>
                  <a:lnTo>
                    <a:pt x="916317" y="0"/>
                  </a:lnTo>
                  <a:cubicBezTo>
                    <a:pt x="942915" y="0"/>
                    <a:pt x="968423" y="10566"/>
                    <a:pt x="987230" y="29373"/>
                  </a:cubicBezTo>
                  <a:cubicBezTo>
                    <a:pt x="1006037" y="48180"/>
                    <a:pt x="1016603" y="73689"/>
                    <a:pt x="1016603" y="100286"/>
                  </a:cubicBezTo>
                  <a:lnTo>
                    <a:pt x="1016603" y="280622"/>
                  </a:lnTo>
                  <a:cubicBezTo>
                    <a:pt x="1016603" y="307219"/>
                    <a:pt x="1006037" y="332727"/>
                    <a:pt x="987230" y="351535"/>
                  </a:cubicBezTo>
                  <a:cubicBezTo>
                    <a:pt x="968423" y="370342"/>
                    <a:pt x="942915" y="380908"/>
                    <a:pt x="916317" y="380908"/>
                  </a:cubicBezTo>
                  <a:lnTo>
                    <a:pt x="100286" y="380908"/>
                  </a:lnTo>
                  <a:cubicBezTo>
                    <a:pt x="73689" y="380908"/>
                    <a:pt x="48180" y="370342"/>
                    <a:pt x="29373" y="351535"/>
                  </a:cubicBezTo>
                  <a:cubicBezTo>
                    <a:pt x="10566" y="332727"/>
                    <a:pt x="0" y="307219"/>
                    <a:pt x="0" y="280622"/>
                  </a:cubicBezTo>
                  <a:lnTo>
                    <a:pt x="0" y="100286"/>
                  </a:lnTo>
                  <a:cubicBezTo>
                    <a:pt x="0" y="73689"/>
                    <a:pt x="10566" y="48180"/>
                    <a:pt x="29373" y="29373"/>
                  </a:cubicBezTo>
                  <a:cubicBezTo>
                    <a:pt x="48180" y="10566"/>
                    <a:pt x="73689" y="0"/>
                    <a:pt x="100286" y="0"/>
                  </a:cubicBezTo>
                  <a:close/>
                </a:path>
              </a:pathLst>
            </a:custGeom>
            <a:solidFill>
              <a:srgbClr val="F5AB0B"/>
            </a:solidFill>
          </p:spPr>
        </p:sp>
        <p:sp>
          <p:nvSpPr>
            <p:cNvPr name="TextBox 14" id="14"/>
            <p:cNvSpPr txBox="true"/>
            <p:nvPr/>
          </p:nvSpPr>
          <p:spPr>
            <a:xfrm>
              <a:off x="0" y="-38100"/>
              <a:ext cx="1016603" cy="41900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2572126" y="3935592"/>
            <a:ext cx="3859916" cy="1446259"/>
            <a:chOff x="0" y="0"/>
            <a:chExt cx="1016603" cy="380908"/>
          </a:xfrm>
        </p:grpSpPr>
        <p:sp>
          <p:nvSpPr>
            <p:cNvPr name="Freeform 16" id="16"/>
            <p:cNvSpPr/>
            <p:nvPr/>
          </p:nvSpPr>
          <p:spPr>
            <a:xfrm flipH="false" flipV="false" rot="0">
              <a:off x="0" y="0"/>
              <a:ext cx="1016603" cy="380908"/>
            </a:xfrm>
            <a:custGeom>
              <a:avLst/>
              <a:gdLst/>
              <a:ahLst/>
              <a:cxnLst/>
              <a:rect r="r" b="b" t="t" l="l"/>
              <a:pathLst>
                <a:path h="380908" w="1016603">
                  <a:moveTo>
                    <a:pt x="100286" y="0"/>
                  </a:moveTo>
                  <a:lnTo>
                    <a:pt x="916317" y="0"/>
                  </a:lnTo>
                  <a:cubicBezTo>
                    <a:pt x="942915" y="0"/>
                    <a:pt x="968423" y="10566"/>
                    <a:pt x="987230" y="29373"/>
                  </a:cubicBezTo>
                  <a:cubicBezTo>
                    <a:pt x="1006037" y="48180"/>
                    <a:pt x="1016603" y="73689"/>
                    <a:pt x="1016603" y="100286"/>
                  </a:cubicBezTo>
                  <a:lnTo>
                    <a:pt x="1016603" y="280622"/>
                  </a:lnTo>
                  <a:cubicBezTo>
                    <a:pt x="1016603" y="307219"/>
                    <a:pt x="1006037" y="332727"/>
                    <a:pt x="987230" y="351535"/>
                  </a:cubicBezTo>
                  <a:cubicBezTo>
                    <a:pt x="968423" y="370342"/>
                    <a:pt x="942915" y="380908"/>
                    <a:pt x="916317" y="380908"/>
                  </a:cubicBezTo>
                  <a:lnTo>
                    <a:pt x="100286" y="380908"/>
                  </a:lnTo>
                  <a:cubicBezTo>
                    <a:pt x="73689" y="380908"/>
                    <a:pt x="48180" y="370342"/>
                    <a:pt x="29373" y="351535"/>
                  </a:cubicBezTo>
                  <a:cubicBezTo>
                    <a:pt x="10566" y="332727"/>
                    <a:pt x="0" y="307219"/>
                    <a:pt x="0" y="280622"/>
                  </a:cubicBezTo>
                  <a:lnTo>
                    <a:pt x="0" y="100286"/>
                  </a:lnTo>
                  <a:cubicBezTo>
                    <a:pt x="0" y="73689"/>
                    <a:pt x="10566" y="48180"/>
                    <a:pt x="29373" y="29373"/>
                  </a:cubicBezTo>
                  <a:cubicBezTo>
                    <a:pt x="48180" y="10566"/>
                    <a:pt x="73689" y="0"/>
                    <a:pt x="100286" y="0"/>
                  </a:cubicBezTo>
                  <a:close/>
                </a:path>
              </a:pathLst>
            </a:custGeom>
            <a:solidFill>
              <a:srgbClr val="F5AB0B"/>
            </a:solidFill>
          </p:spPr>
        </p:sp>
        <p:sp>
          <p:nvSpPr>
            <p:cNvPr name="TextBox 17" id="17"/>
            <p:cNvSpPr txBox="true"/>
            <p:nvPr/>
          </p:nvSpPr>
          <p:spPr>
            <a:xfrm>
              <a:off x="0" y="-38100"/>
              <a:ext cx="1016603" cy="41900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51895" y="3935592"/>
            <a:ext cx="3859916" cy="1446259"/>
            <a:chOff x="0" y="0"/>
            <a:chExt cx="1016603" cy="380908"/>
          </a:xfrm>
        </p:grpSpPr>
        <p:sp>
          <p:nvSpPr>
            <p:cNvPr name="Freeform 19" id="19"/>
            <p:cNvSpPr/>
            <p:nvPr/>
          </p:nvSpPr>
          <p:spPr>
            <a:xfrm flipH="false" flipV="false" rot="0">
              <a:off x="0" y="0"/>
              <a:ext cx="1016603" cy="380908"/>
            </a:xfrm>
            <a:custGeom>
              <a:avLst/>
              <a:gdLst/>
              <a:ahLst/>
              <a:cxnLst/>
              <a:rect r="r" b="b" t="t" l="l"/>
              <a:pathLst>
                <a:path h="380908" w="1016603">
                  <a:moveTo>
                    <a:pt x="100286" y="0"/>
                  </a:moveTo>
                  <a:lnTo>
                    <a:pt x="916317" y="0"/>
                  </a:lnTo>
                  <a:cubicBezTo>
                    <a:pt x="942915" y="0"/>
                    <a:pt x="968423" y="10566"/>
                    <a:pt x="987230" y="29373"/>
                  </a:cubicBezTo>
                  <a:cubicBezTo>
                    <a:pt x="1006037" y="48180"/>
                    <a:pt x="1016603" y="73689"/>
                    <a:pt x="1016603" y="100286"/>
                  </a:cubicBezTo>
                  <a:lnTo>
                    <a:pt x="1016603" y="280622"/>
                  </a:lnTo>
                  <a:cubicBezTo>
                    <a:pt x="1016603" y="307219"/>
                    <a:pt x="1006037" y="332727"/>
                    <a:pt x="987230" y="351535"/>
                  </a:cubicBezTo>
                  <a:cubicBezTo>
                    <a:pt x="968423" y="370342"/>
                    <a:pt x="942915" y="380908"/>
                    <a:pt x="916317" y="380908"/>
                  </a:cubicBezTo>
                  <a:lnTo>
                    <a:pt x="100286" y="380908"/>
                  </a:lnTo>
                  <a:cubicBezTo>
                    <a:pt x="73689" y="380908"/>
                    <a:pt x="48180" y="370342"/>
                    <a:pt x="29373" y="351535"/>
                  </a:cubicBezTo>
                  <a:cubicBezTo>
                    <a:pt x="10566" y="332727"/>
                    <a:pt x="0" y="307219"/>
                    <a:pt x="0" y="280622"/>
                  </a:cubicBezTo>
                  <a:lnTo>
                    <a:pt x="0" y="100286"/>
                  </a:lnTo>
                  <a:cubicBezTo>
                    <a:pt x="0" y="73689"/>
                    <a:pt x="10566" y="48180"/>
                    <a:pt x="29373" y="29373"/>
                  </a:cubicBezTo>
                  <a:cubicBezTo>
                    <a:pt x="48180" y="10566"/>
                    <a:pt x="73689" y="0"/>
                    <a:pt x="100286" y="0"/>
                  </a:cubicBezTo>
                  <a:close/>
                </a:path>
              </a:pathLst>
            </a:custGeom>
            <a:solidFill>
              <a:srgbClr val="F5AB0B"/>
            </a:solidFill>
          </p:spPr>
        </p:sp>
        <p:sp>
          <p:nvSpPr>
            <p:cNvPr name="TextBox 20" id="20"/>
            <p:cNvSpPr txBox="true"/>
            <p:nvPr/>
          </p:nvSpPr>
          <p:spPr>
            <a:xfrm>
              <a:off x="0" y="-38100"/>
              <a:ext cx="1016603" cy="419008"/>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4155516" y="2360792"/>
            <a:ext cx="9996361" cy="869950"/>
          </a:xfrm>
          <a:prstGeom prst="rect">
            <a:avLst/>
          </a:prstGeom>
        </p:spPr>
        <p:txBody>
          <a:bodyPr anchor="t" rtlCol="false" tIns="0" lIns="0" bIns="0" rIns="0">
            <a:spAutoFit/>
          </a:bodyPr>
          <a:lstStyle/>
          <a:p>
            <a:pPr algn="ctr">
              <a:lnSpc>
                <a:spcPts val="6500"/>
              </a:lnSpc>
            </a:pPr>
            <a:r>
              <a:rPr lang="en-US" b="true" sz="6500">
                <a:solidFill>
                  <a:srgbClr val="FCFEFD"/>
                </a:solidFill>
                <a:latin typeface="Inter Ultra-Bold"/>
                <a:ea typeface="Inter Ultra-Bold"/>
                <a:cs typeface="Inter Ultra-Bold"/>
                <a:sym typeface="Inter Ultra-Bold"/>
              </a:rPr>
              <a:t>MANFAAT PENELITIAN</a:t>
            </a:r>
          </a:p>
        </p:txBody>
      </p:sp>
      <p:sp>
        <p:nvSpPr>
          <p:cNvPr name="TextBox 22" id="22"/>
          <p:cNvSpPr txBox="true"/>
          <p:nvPr/>
        </p:nvSpPr>
        <p:spPr>
          <a:xfrm rot="0">
            <a:off x="1921061" y="4233224"/>
            <a:ext cx="3312427" cy="908144"/>
          </a:xfrm>
          <a:prstGeom prst="rect">
            <a:avLst/>
          </a:prstGeom>
        </p:spPr>
        <p:txBody>
          <a:bodyPr anchor="t" rtlCol="false" tIns="0" lIns="0" bIns="0" rIns="0">
            <a:spAutoFit/>
          </a:bodyPr>
          <a:lstStyle/>
          <a:p>
            <a:pPr algn="ctr">
              <a:lnSpc>
                <a:spcPts val="3503"/>
              </a:lnSpc>
            </a:pPr>
            <a:r>
              <a:rPr lang="en-US" sz="3503" b="true">
                <a:solidFill>
                  <a:srgbClr val="000000"/>
                </a:solidFill>
                <a:latin typeface="Sukar Heavy"/>
                <a:ea typeface="Sukar Heavy"/>
                <a:cs typeface="Sukar Heavy"/>
                <a:sym typeface="Sukar Heavy"/>
              </a:rPr>
              <a:t>Manfaat Bagi Penulis</a:t>
            </a:r>
          </a:p>
        </p:txBody>
      </p:sp>
      <p:sp>
        <p:nvSpPr>
          <p:cNvPr name="TextBox 23" id="23"/>
          <p:cNvSpPr txBox="true"/>
          <p:nvPr/>
        </p:nvSpPr>
        <p:spPr>
          <a:xfrm rot="0">
            <a:off x="7406560" y="4233224"/>
            <a:ext cx="3494272" cy="908144"/>
          </a:xfrm>
          <a:prstGeom prst="rect">
            <a:avLst/>
          </a:prstGeom>
        </p:spPr>
        <p:txBody>
          <a:bodyPr anchor="t" rtlCol="false" tIns="0" lIns="0" bIns="0" rIns="0">
            <a:spAutoFit/>
          </a:bodyPr>
          <a:lstStyle/>
          <a:p>
            <a:pPr algn="ctr">
              <a:lnSpc>
                <a:spcPts val="3503"/>
              </a:lnSpc>
            </a:pPr>
            <a:r>
              <a:rPr lang="en-US" sz="3503" b="true">
                <a:solidFill>
                  <a:srgbClr val="000000"/>
                </a:solidFill>
                <a:latin typeface="Sukar Heavy"/>
                <a:ea typeface="Sukar Heavy"/>
                <a:cs typeface="Sukar Heavy"/>
                <a:sym typeface="Sukar Heavy"/>
              </a:rPr>
              <a:t>Manfaat Bagi Pembaca</a:t>
            </a:r>
          </a:p>
        </p:txBody>
      </p:sp>
      <p:sp>
        <p:nvSpPr>
          <p:cNvPr name="TextBox 24" id="24"/>
          <p:cNvSpPr txBox="true"/>
          <p:nvPr/>
        </p:nvSpPr>
        <p:spPr>
          <a:xfrm rot="0">
            <a:off x="12759850" y="4233224"/>
            <a:ext cx="3494272" cy="908144"/>
          </a:xfrm>
          <a:prstGeom prst="rect">
            <a:avLst/>
          </a:prstGeom>
        </p:spPr>
        <p:txBody>
          <a:bodyPr anchor="t" rtlCol="false" tIns="0" lIns="0" bIns="0" rIns="0">
            <a:spAutoFit/>
          </a:bodyPr>
          <a:lstStyle/>
          <a:p>
            <a:pPr algn="ctr">
              <a:lnSpc>
                <a:spcPts val="3503"/>
              </a:lnSpc>
            </a:pPr>
            <a:r>
              <a:rPr lang="en-US" sz="3503" b="true">
                <a:solidFill>
                  <a:srgbClr val="000000"/>
                </a:solidFill>
                <a:latin typeface="Sukar Heavy"/>
                <a:ea typeface="Sukar Heavy"/>
                <a:cs typeface="Sukar Heavy"/>
                <a:sym typeface="Sukar Heavy"/>
              </a:rPr>
              <a:t>Manfaat Bagi Objek Penelitian</a:t>
            </a:r>
          </a:p>
        </p:txBody>
      </p:sp>
      <p:sp>
        <p:nvSpPr>
          <p:cNvPr name="TextBox 25" id="25"/>
          <p:cNvSpPr txBox="true"/>
          <p:nvPr/>
        </p:nvSpPr>
        <p:spPr>
          <a:xfrm rot="0">
            <a:off x="1441023" y="5902598"/>
            <a:ext cx="4272502" cy="2686050"/>
          </a:xfrm>
          <a:prstGeom prst="rect">
            <a:avLst/>
          </a:prstGeom>
        </p:spPr>
        <p:txBody>
          <a:bodyPr anchor="t" rtlCol="false" tIns="0" lIns="0" bIns="0" rIns="0">
            <a:spAutoFit/>
          </a:bodyPr>
          <a:lstStyle/>
          <a:p>
            <a:pPr algn="just">
              <a:lnSpc>
                <a:spcPts val="3000"/>
              </a:lnSpc>
            </a:pPr>
            <a:r>
              <a:rPr lang="en-US" sz="3000" b="true">
                <a:solidFill>
                  <a:srgbClr val="FCFEFD"/>
                </a:solidFill>
                <a:latin typeface="Sukar Bold"/>
                <a:ea typeface="Sukar Bold"/>
                <a:cs typeface="Sukar Bold"/>
                <a:sym typeface="Sukar Bold"/>
              </a:rPr>
              <a:t>Memberikan pengalaman praktis kepada penulis dalam menerapkan teori dan metode perancangan sistem informasi berbasis website, khususnya dalam bidang pendidikan</a:t>
            </a:r>
          </a:p>
        </p:txBody>
      </p:sp>
      <p:sp>
        <p:nvSpPr>
          <p:cNvPr name="TextBox 26" id="26"/>
          <p:cNvSpPr txBox="true"/>
          <p:nvPr/>
        </p:nvSpPr>
        <p:spPr>
          <a:xfrm rot="0">
            <a:off x="7006572" y="5712098"/>
            <a:ext cx="4272502" cy="2686050"/>
          </a:xfrm>
          <a:prstGeom prst="rect">
            <a:avLst/>
          </a:prstGeom>
        </p:spPr>
        <p:txBody>
          <a:bodyPr anchor="t" rtlCol="false" tIns="0" lIns="0" bIns="0" rIns="0">
            <a:spAutoFit/>
          </a:bodyPr>
          <a:lstStyle/>
          <a:p>
            <a:pPr algn="just">
              <a:lnSpc>
                <a:spcPts val="3000"/>
              </a:lnSpc>
            </a:pPr>
            <a:r>
              <a:rPr lang="en-US" sz="3000" b="true">
                <a:solidFill>
                  <a:srgbClr val="FCFEFD"/>
                </a:solidFill>
                <a:latin typeface="Sukar Bold"/>
                <a:ea typeface="Sukar Bold"/>
                <a:cs typeface="Sukar Bold"/>
                <a:sym typeface="Sukar Bold"/>
              </a:rPr>
              <a:t>menjadi referensi dan sumber pembelajaran bagi mahasiswa, akademisi, atau pihak lain yang tertarik dalam pengembangan sistem informasi pendidikan</a:t>
            </a:r>
          </a:p>
        </p:txBody>
      </p:sp>
      <p:sp>
        <p:nvSpPr>
          <p:cNvPr name="TextBox 27" id="27"/>
          <p:cNvSpPr txBox="true"/>
          <p:nvPr/>
        </p:nvSpPr>
        <p:spPr>
          <a:xfrm rot="0">
            <a:off x="12574474" y="5712098"/>
            <a:ext cx="4272502" cy="1924050"/>
          </a:xfrm>
          <a:prstGeom prst="rect">
            <a:avLst/>
          </a:prstGeom>
        </p:spPr>
        <p:txBody>
          <a:bodyPr anchor="t" rtlCol="false" tIns="0" lIns="0" bIns="0" rIns="0">
            <a:spAutoFit/>
          </a:bodyPr>
          <a:lstStyle/>
          <a:p>
            <a:pPr algn="just">
              <a:lnSpc>
                <a:spcPts val="3000"/>
              </a:lnSpc>
            </a:pPr>
            <a:r>
              <a:rPr lang="en-US" sz="3000" b="true">
                <a:solidFill>
                  <a:srgbClr val="FCFEFD"/>
                </a:solidFill>
                <a:latin typeface="Sukar Bold"/>
                <a:ea typeface="Sukar Bold"/>
                <a:cs typeface="Sukar Bold"/>
                <a:sym typeface="Sukar Bold"/>
              </a:rPr>
              <a:t>membantu SDN 004 Hidup Baru dalam mengelola sistem akademik dengan lebih cepat, rapi, dan terstruktur.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2" id="12"/>
          <p:cNvSpPr/>
          <p:nvPr/>
        </p:nvSpPr>
        <p:spPr>
          <a:xfrm flipH="false" flipV="false" rot="0">
            <a:off x="740106" y="5589857"/>
            <a:ext cx="940944" cy="740780"/>
          </a:xfrm>
          <a:custGeom>
            <a:avLst/>
            <a:gdLst/>
            <a:ahLst/>
            <a:cxnLst/>
            <a:rect r="r" b="b" t="t" l="l"/>
            <a:pathLst>
              <a:path h="740780" w="940944">
                <a:moveTo>
                  <a:pt x="0" y="0"/>
                </a:moveTo>
                <a:lnTo>
                  <a:pt x="940945" y="0"/>
                </a:lnTo>
                <a:lnTo>
                  <a:pt x="940945" y="740780"/>
                </a:lnTo>
                <a:lnTo>
                  <a:pt x="0" y="74078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042133" y="3193263"/>
            <a:ext cx="592357" cy="1008268"/>
          </a:xfrm>
          <a:custGeom>
            <a:avLst/>
            <a:gdLst/>
            <a:ahLst/>
            <a:cxnLst/>
            <a:rect r="r" b="b" t="t" l="l"/>
            <a:pathLst>
              <a:path h="1008268" w="592357">
                <a:moveTo>
                  <a:pt x="0" y="0"/>
                </a:moveTo>
                <a:lnTo>
                  <a:pt x="592357" y="0"/>
                </a:lnTo>
                <a:lnTo>
                  <a:pt x="592357" y="1008267"/>
                </a:lnTo>
                <a:lnTo>
                  <a:pt x="0" y="100826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12545210" y="2974341"/>
            <a:ext cx="5590763" cy="3457054"/>
          </a:xfrm>
          <a:custGeom>
            <a:avLst/>
            <a:gdLst/>
            <a:ahLst/>
            <a:cxnLst/>
            <a:rect r="r" b="b" t="t" l="l"/>
            <a:pathLst>
              <a:path h="3457054" w="5590763">
                <a:moveTo>
                  <a:pt x="0" y="0"/>
                </a:moveTo>
                <a:lnTo>
                  <a:pt x="5590763" y="0"/>
                </a:lnTo>
                <a:lnTo>
                  <a:pt x="5590763" y="3457054"/>
                </a:lnTo>
                <a:lnTo>
                  <a:pt x="0" y="3457054"/>
                </a:lnTo>
                <a:lnTo>
                  <a:pt x="0" y="0"/>
                </a:lnTo>
                <a:close/>
              </a:path>
            </a:pathLst>
          </a:custGeom>
          <a:blipFill>
            <a:blip r:embed="rId15"/>
            <a:stretch>
              <a:fillRect l="0" t="0" r="0" b="0"/>
            </a:stretch>
          </a:blipFill>
        </p:spPr>
      </p:sp>
      <p:sp>
        <p:nvSpPr>
          <p:cNvPr name="TextBox 15" id="15"/>
          <p:cNvSpPr txBox="true"/>
          <p:nvPr/>
        </p:nvSpPr>
        <p:spPr>
          <a:xfrm rot="0">
            <a:off x="322043" y="1763282"/>
            <a:ext cx="11964845" cy="753705"/>
          </a:xfrm>
          <a:prstGeom prst="rect">
            <a:avLst/>
          </a:prstGeom>
        </p:spPr>
        <p:txBody>
          <a:bodyPr anchor="t" rtlCol="false" tIns="0" lIns="0" bIns="0" rIns="0">
            <a:spAutoFit/>
          </a:bodyPr>
          <a:lstStyle/>
          <a:p>
            <a:pPr algn="l">
              <a:lnSpc>
                <a:spcPts val="5673"/>
              </a:lnSpc>
            </a:pPr>
            <a:r>
              <a:rPr lang="en-US" sz="5673" b="true">
                <a:solidFill>
                  <a:srgbClr val="FCFEFD"/>
                </a:solidFill>
                <a:latin typeface="Inter Ultra-Bold"/>
                <a:ea typeface="Inter Ultra-Bold"/>
                <a:cs typeface="Inter Ultra-Bold"/>
                <a:sym typeface="Inter Ultra-Bold"/>
              </a:rPr>
              <a:t>LOKASI DAN WAKTU PENELITIAN</a:t>
            </a:r>
          </a:p>
        </p:txBody>
      </p:sp>
      <p:sp>
        <p:nvSpPr>
          <p:cNvPr name="TextBox 16" id="16"/>
          <p:cNvSpPr txBox="true"/>
          <p:nvPr/>
        </p:nvSpPr>
        <p:spPr>
          <a:xfrm rot="0">
            <a:off x="2130460" y="3418546"/>
            <a:ext cx="9734169" cy="1284322"/>
          </a:xfrm>
          <a:prstGeom prst="rect">
            <a:avLst/>
          </a:prstGeom>
        </p:spPr>
        <p:txBody>
          <a:bodyPr anchor="t" rtlCol="false" tIns="0" lIns="0" bIns="0" rIns="0">
            <a:spAutoFit/>
          </a:bodyPr>
          <a:lstStyle/>
          <a:p>
            <a:pPr algn="just">
              <a:lnSpc>
                <a:spcPts val="3313"/>
              </a:lnSpc>
            </a:pPr>
            <a:r>
              <a:rPr lang="en-US" sz="3313" b="true">
                <a:solidFill>
                  <a:srgbClr val="FCFEFD"/>
                </a:solidFill>
                <a:latin typeface="Sukar Bold"/>
                <a:ea typeface="Sukar Bold"/>
                <a:cs typeface="Sukar Bold"/>
                <a:sym typeface="Sukar Bold"/>
              </a:rPr>
              <a:t>Penelitian dilakukan di SDN 004 Hidup Baru yang beralamat di Jl. Desa Hidup Baru, Kec. Kampar Kiri Tengah, Kabupaten Kampar</a:t>
            </a:r>
          </a:p>
        </p:txBody>
      </p:sp>
      <p:sp>
        <p:nvSpPr>
          <p:cNvPr name="TextBox 17" id="17"/>
          <p:cNvSpPr txBox="true"/>
          <p:nvPr/>
        </p:nvSpPr>
        <p:spPr>
          <a:xfrm rot="0">
            <a:off x="2130460" y="5439348"/>
            <a:ext cx="9734169" cy="1284322"/>
          </a:xfrm>
          <a:prstGeom prst="rect">
            <a:avLst/>
          </a:prstGeom>
        </p:spPr>
        <p:txBody>
          <a:bodyPr anchor="t" rtlCol="false" tIns="0" lIns="0" bIns="0" rIns="0">
            <a:spAutoFit/>
          </a:bodyPr>
          <a:lstStyle/>
          <a:p>
            <a:pPr algn="just">
              <a:lnSpc>
                <a:spcPts val="3313"/>
              </a:lnSpc>
            </a:pPr>
            <a:r>
              <a:rPr lang="en-US" sz="3313" b="true">
                <a:solidFill>
                  <a:srgbClr val="FCFEFD"/>
                </a:solidFill>
                <a:latin typeface="Sukar Bold"/>
                <a:ea typeface="Sukar Bold"/>
                <a:cs typeface="Sukar Bold"/>
                <a:sym typeface="Sukar Bold"/>
              </a:rPr>
              <a:t>Waktu pelaksanaan Praktek Kerja Lapangan berlangsung selama 3 bulan, yaitu bulan April Hingga Juni 2025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2" id="12"/>
          <p:cNvSpPr/>
          <p:nvPr/>
        </p:nvSpPr>
        <p:spPr>
          <a:xfrm flipH="false" flipV="false" rot="0">
            <a:off x="3850940" y="2317930"/>
            <a:ext cx="11082409" cy="7962049"/>
          </a:xfrm>
          <a:custGeom>
            <a:avLst/>
            <a:gdLst/>
            <a:ahLst/>
            <a:cxnLst/>
            <a:rect r="r" b="b" t="t" l="l"/>
            <a:pathLst>
              <a:path h="7962049" w="11082409">
                <a:moveTo>
                  <a:pt x="0" y="0"/>
                </a:moveTo>
                <a:lnTo>
                  <a:pt x="11082409" y="0"/>
                </a:lnTo>
                <a:lnTo>
                  <a:pt x="11082409" y="7962048"/>
                </a:lnTo>
                <a:lnTo>
                  <a:pt x="0" y="7962048"/>
                </a:lnTo>
                <a:lnTo>
                  <a:pt x="0" y="0"/>
                </a:lnTo>
                <a:close/>
              </a:path>
            </a:pathLst>
          </a:custGeom>
          <a:blipFill>
            <a:blip r:embed="rId11"/>
            <a:stretch>
              <a:fillRect l="0" t="-3419" r="0" b="-3419"/>
            </a:stretch>
          </a:blipFill>
        </p:spPr>
      </p:sp>
      <p:sp>
        <p:nvSpPr>
          <p:cNvPr name="TextBox 13" id="13"/>
          <p:cNvSpPr txBox="true"/>
          <p:nvPr/>
        </p:nvSpPr>
        <p:spPr>
          <a:xfrm rot="0">
            <a:off x="3783417" y="1181100"/>
            <a:ext cx="10721165" cy="980399"/>
          </a:xfrm>
          <a:prstGeom prst="rect">
            <a:avLst/>
          </a:prstGeom>
        </p:spPr>
        <p:txBody>
          <a:bodyPr anchor="t" rtlCol="false" tIns="0" lIns="0" bIns="0" rIns="0">
            <a:spAutoFit/>
          </a:bodyPr>
          <a:lstStyle/>
          <a:p>
            <a:pPr algn="l">
              <a:lnSpc>
                <a:spcPts val="7473"/>
              </a:lnSpc>
            </a:pPr>
            <a:r>
              <a:rPr lang="en-US" sz="7473" b="true">
                <a:solidFill>
                  <a:srgbClr val="FFFFFF"/>
                </a:solidFill>
                <a:latin typeface="Inter Ultra-Bold"/>
                <a:ea typeface="Inter Ultra-Bold"/>
                <a:cs typeface="Inter Ultra-Bold"/>
                <a:sym typeface="Inter Ultra-Bold"/>
              </a:rPr>
              <a:t>TAHAPAN PENELITIAN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2" id="12"/>
          <p:cNvSpPr/>
          <p:nvPr/>
        </p:nvSpPr>
        <p:spPr>
          <a:xfrm flipH="false" flipV="false" rot="0">
            <a:off x="9471466" y="2893345"/>
            <a:ext cx="8816534" cy="6717359"/>
          </a:xfrm>
          <a:custGeom>
            <a:avLst/>
            <a:gdLst/>
            <a:ahLst/>
            <a:cxnLst/>
            <a:rect r="r" b="b" t="t" l="l"/>
            <a:pathLst>
              <a:path h="6717359" w="8816534">
                <a:moveTo>
                  <a:pt x="0" y="0"/>
                </a:moveTo>
                <a:lnTo>
                  <a:pt x="8816534" y="0"/>
                </a:lnTo>
                <a:lnTo>
                  <a:pt x="8816534" y="6717360"/>
                </a:lnTo>
                <a:lnTo>
                  <a:pt x="0" y="6717360"/>
                </a:lnTo>
                <a:lnTo>
                  <a:pt x="0" y="0"/>
                </a:lnTo>
                <a:close/>
              </a:path>
            </a:pathLst>
          </a:custGeom>
          <a:blipFill>
            <a:blip r:embed="rId11"/>
            <a:stretch>
              <a:fillRect l="0" t="0" r="0" b="0"/>
            </a:stretch>
          </a:blipFill>
        </p:spPr>
      </p:sp>
      <p:sp>
        <p:nvSpPr>
          <p:cNvPr name="TextBox 13" id="13"/>
          <p:cNvSpPr txBox="true"/>
          <p:nvPr/>
        </p:nvSpPr>
        <p:spPr>
          <a:xfrm rot="0">
            <a:off x="524815" y="1613491"/>
            <a:ext cx="12015619" cy="930275"/>
          </a:xfrm>
          <a:prstGeom prst="rect">
            <a:avLst/>
          </a:prstGeom>
        </p:spPr>
        <p:txBody>
          <a:bodyPr anchor="t" rtlCol="false" tIns="0" lIns="0" bIns="0" rIns="0">
            <a:spAutoFit/>
          </a:bodyPr>
          <a:lstStyle/>
          <a:p>
            <a:pPr algn="l">
              <a:lnSpc>
                <a:spcPts val="6999"/>
              </a:lnSpc>
            </a:pPr>
            <a:r>
              <a:rPr lang="en-US" sz="6999" b="true">
                <a:solidFill>
                  <a:srgbClr val="FFFFFF"/>
                </a:solidFill>
                <a:latin typeface="Inter Ultra-Bold"/>
                <a:ea typeface="Inter Ultra-Bold"/>
                <a:cs typeface="Inter Ultra-Bold"/>
                <a:sym typeface="Inter Ultra-Bold"/>
              </a:rPr>
              <a:t>METODOLOGI PENELITIAN</a:t>
            </a:r>
          </a:p>
        </p:txBody>
      </p:sp>
      <p:sp>
        <p:nvSpPr>
          <p:cNvPr name="TextBox 14" id="14"/>
          <p:cNvSpPr txBox="true"/>
          <p:nvPr/>
        </p:nvSpPr>
        <p:spPr>
          <a:xfrm rot="0">
            <a:off x="750730" y="3859354"/>
            <a:ext cx="8556812" cy="3975100"/>
          </a:xfrm>
          <a:prstGeom prst="rect">
            <a:avLst/>
          </a:prstGeom>
        </p:spPr>
        <p:txBody>
          <a:bodyPr anchor="t" rtlCol="false" tIns="0" lIns="0" bIns="0" rIns="0">
            <a:spAutoFit/>
          </a:bodyPr>
          <a:lstStyle/>
          <a:p>
            <a:pPr algn="just">
              <a:lnSpc>
                <a:spcPts val="3500"/>
              </a:lnSpc>
            </a:pPr>
            <a:r>
              <a:rPr lang="en-US" sz="3500" b="true">
                <a:solidFill>
                  <a:srgbClr val="FFFFFF"/>
                </a:solidFill>
                <a:latin typeface="Sukar Bold"/>
                <a:ea typeface="Sukar Bold"/>
                <a:cs typeface="Sukar Bold"/>
                <a:sym typeface="Sukar Bold"/>
              </a:rPr>
              <a:t>Metode Waterfall merupakan model pengembangan perangkat lunak yang bersifat klasik dan sistematis, dimana proses pengerjaan dilakukan secara bertahap dan berurutan.</a:t>
            </a:r>
          </a:p>
          <a:p>
            <a:pPr algn="just">
              <a:lnSpc>
                <a:spcPts val="3500"/>
              </a:lnSpc>
            </a:pPr>
          </a:p>
          <a:p>
            <a:pPr algn="just">
              <a:lnSpc>
                <a:spcPts val="3500"/>
              </a:lnSpc>
            </a:pPr>
            <a:r>
              <a:rPr lang="en-US" sz="3500" b="true">
                <a:solidFill>
                  <a:srgbClr val="FFFFFF"/>
                </a:solidFill>
                <a:latin typeface="Sukar Bold"/>
                <a:ea typeface="Sukar Bold"/>
                <a:cs typeface="Sukar Bold"/>
                <a:sym typeface="Sukar Bold"/>
              </a:rPr>
              <a:t>setiap tahapan dalam metode ini harus diselesaikan terlebih dahulu sebelum melanjutkan ke tahap berikutnya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2" id="12"/>
          <p:cNvSpPr/>
          <p:nvPr/>
        </p:nvSpPr>
        <p:spPr>
          <a:xfrm flipH="false" flipV="false" rot="0">
            <a:off x="11829341" y="1787832"/>
            <a:ext cx="5375415" cy="8709510"/>
          </a:xfrm>
          <a:custGeom>
            <a:avLst/>
            <a:gdLst/>
            <a:ahLst/>
            <a:cxnLst/>
            <a:rect r="r" b="b" t="t" l="l"/>
            <a:pathLst>
              <a:path h="8709510" w="5375415">
                <a:moveTo>
                  <a:pt x="0" y="0"/>
                </a:moveTo>
                <a:lnTo>
                  <a:pt x="5375415" y="0"/>
                </a:lnTo>
                <a:lnTo>
                  <a:pt x="5375415" y="8709510"/>
                </a:lnTo>
                <a:lnTo>
                  <a:pt x="0" y="8709510"/>
                </a:lnTo>
                <a:lnTo>
                  <a:pt x="0" y="0"/>
                </a:lnTo>
                <a:close/>
              </a:path>
            </a:pathLst>
          </a:custGeom>
          <a:blipFill>
            <a:blip r:embed="rId11"/>
            <a:stretch>
              <a:fillRect l="-8656" t="-6478" r="-5828" b="0"/>
            </a:stretch>
          </a:blipFill>
        </p:spPr>
      </p:sp>
      <p:sp>
        <p:nvSpPr>
          <p:cNvPr name="TextBox 13" id="13"/>
          <p:cNvSpPr txBox="true"/>
          <p:nvPr/>
        </p:nvSpPr>
        <p:spPr>
          <a:xfrm rot="0">
            <a:off x="3024415" y="1057275"/>
            <a:ext cx="12919253" cy="788035"/>
          </a:xfrm>
          <a:prstGeom prst="rect">
            <a:avLst/>
          </a:prstGeom>
        </p:spPr>
        <p:txBody>
          <a:bodyPr anchor="t" rtlCol="false" tIns="0" lIns="0" bIns="0" rIns="0">
            <a:spAutoFit/>
          </a:bodyPr>
          <a:lstStyle/>
          <a:p>
            <a:pPr algn="ctr">
              <a:lnSpc>
                <a:spcPts val="5900"/>
              </a:lnSpc>
            </a:pPr>
            <a:r>
              <a:rPr lang="en-US" b="true" sz="5900">
                <a:solidFill>
                  <a:srgbClr val="FFFFFF"/>
                </a:solidFill>
                <a:latin typeface="Inter Ultra-Bold"/>
                <a:ea typeface="Inter Ultra-Bold"/>
                <a:cs typeface="Inter Ultra-Bold"/>
                <a:sym typeface="Inter Ultra-Bold"/>
              </a:rPr>
              <a:t>SISTEM YANG SEDANG BERJALAN</a:t>
            </a:r>
          </a:p>
        </p:txBody>
      </p:sp>
      <p:sp>
        <p:nvSpPr>
          <p:cNvPr name="TextBox 14" id="14"/>
          <p:cNvSpPr txBox="true"/>
          <p:nvPr/>
        </p:nvSpPr>
        <p:spPr>
          <a:xfrm rot="0">
            <a:off x="1814120" y="3829379"/>
            <a:ext cx="7669921" cy="2710814"/>
          </a:xfrm>
          <a:prstGeom prst="rect">
            <a:avLst/>
          </a:prstGeom>
        </p:spPr>
        <p:txBody>
          <a:bodyPr anchor="t" rtlCol="false" tIns="0" lIns="0" bIns="0" rIns="0">
            <a:spAutoFit/>
          </a:bodyPr>
          <a:lstStyle/>
          <a:p>
            <a:pPr algn="just">
              <a:lnSpc>
                <a:spcPts val="3599"/>
              </a:lnSpc>
            </a:pPr>
            <a:r>
              <a:rPr lang="en-US" sz="3599">
                <a:solidFill>
                  <a:srgbClr val="FFFFFF"/>
                </a:solidFill>
                <a:latin typeface="Sukar"/>
                <a:ea typeface="Sukar"/>
                <a:cs typeface="Sukar"/>
                <a:sym typeface="Sukar"/>
              </a:rPr>
              <a:t>Sistem informasi akademik yang sedang berjalan di SDN 004 Hidup Baru masih dilakukan secara manual. Proses  akademik yang dilakukan dengan cara catat mencatat di buku, dan penyimpanannya masih di dalam excel.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9564822" y="2840022"/>
            <a:ext cx="8833788" cy="7446978"/>
          </a:xfrm>
          <a:custGeom>
            <a:avLst/>
            <a:gdLst/>
            <a:ahLst/>
            <a:cxnLst/>
            <a:rect r="r" b="b" t="t" l="l"/>
            <a:pathLst>
              <a:path h="7446978" w="8833788">
                <a:moveTo>
                  <a:pt x="0" y="0"/>
                </a:moveTo>
                <a:lnTo>
                  <a:pt x="8833788" y="0"/>
                </a:lnTo>
                <a:lnTo>
                  <a:pt x="8833788" y="7446978"/>
                </a:lnTo>
                <a:lnTo>
                  <a:pt x="0" y="7446978"/>
                </a:lnTo>
                <a:lnTo>
                  <a:pt x="0" y="0"/>
                </a:lnTo>
                <a:close/>
              </a:path>
            </a:pathLst>
          </a:custGeom>
          <a:blipFill>
            <a:blip r:embed="rId11"/>
            <a:stretch>
              <a:fillRect l="0" t="0" r="0" b="0"/>
            </a:stretch>
          </a:blipFill>
        </p:spPr>
      </p:sp>
      <p:sp>
        <p:nvSpPr>
          <p:cNvPr name="TextBox 16" id="16"/>
          <p:cNvSpPr txBox="true"/>
          <p:nvPr/>
        </p:nvSpPr>
        <p:spPr>
          <a:xfrm rot="0">
            <a:off x="720878" y="169513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7" id="17"/>
          <p:cNvSpPr txBox="true"/>
          <p:nvPr/>
        </p:nvSpPr>
        <p:spPr>
          <a:xfrm rot="0">
            <a:off x="1897049" y="4461092"/>
            <a:ext cx="7320901" cy="3560104"/>
          </a:xfrm>
          <a:prstGeom prst="rect">
            <a:avLst/>
          </a:prstGeom>
        </p:spPr>
        <p:txBody>
          <a:bodyPr anchor="t" rtlCol="false" tIns="0" lIns="0" bIns="0" rIns="0">
            <a:spAutoFit/>
          </a:bodyPr>
          <a:lstStyle/>
          <a:p>
            <a:pPr algn="just">
              <a:lnSpc>
                <a:spcPts val="4036"/>
              </a:lnSpc>
            </a:pPr>
            <a:r>
              <a:rPr lang="en-US" sz="4036">
                <a:solidFill>
                  <a:srgbClr val="FFFFFF"/>
                </a:solidFill>
                <a:latin typeface="Sukar"/>
                <a:ea typeface="Sukar"/>
                <a:cs typeface="Sukar"/>
                <a:sym typeface="Sukar"/>
              </a:rPr>
              <a:t>Pada gambar Use Case Diagram disamping menjelaskan tentang sistem informasi akademik ini terdapat dua aktor utama yaitu admin dan guru, yang masing-masing memiliki hak akses dan peran berbeda</a:t>
            </a:r>
          </a:p>
        </p:txBody>
      </p:sp>
      <p:sp>
        <p:nvSpPr>
          <p:cNvPr name="TextBox 18" id="18"/>
          <p:cNvSpPr txBox="true"/>
          <p:nvPr/>
        </p:nvSpPr>
        <p:spPr>
          <a:xfrm rot="0">
            <a:off x="1503783" y="3320095"/>
            <a:ext cx="4683840" cy="469994"/>
          </a:xfrm>
          <a:prstGeom prst="rect">
            <a:avLst/>
          </a:prstGeom>
        </p:spPr>
        <p:txBody>
          <a:bodyPr anchor="t" rtlCol="false" tIns="0" lIns="0" bIns="0" rIns="0">
            <a:spAutoFit/>
          </a:bodyPr>
          <a:lstStyle/>
          <a:p>
            <a:pPr algn="ctr">
              <a:lnSpc>
                <a:spcPts val="3503"/>
              </a:lnSpc>
            </a:pPr>
            <a:r>
              <a:rPr lang="en-US" sz="3503" b="true">
                <a:solidFill>
                  <a:srgbClr val="002C4F"/>
                </a:solidFill>
                <a:latin typeface="Sukar Heavy"/>
                <a:ea typeface="Sukar Heavy"/>
                <a:cs typeface="Sukar Heavy"/>
                <a:sym typeface="Sukar Heavy"/>
              </a:rPr>
              <a:t>Use Case Diagram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26853" y="4445254"/>
            <a:ext cx="7467119" cy="4351383"/>
          </a:xfrm>
          <a:custGeom>
            <a:avLst/>
            <a:gdLst/>
            <a:ahLst/>
            <a:cxnLst/>
            <a:rect r="r" b="b" t="t" l="l"/>
            <a:pathLst>
              <a:path h="4351383" w="7467119">
                <a:moveTo>
                  <a:pt x="0" y="0"/>
                </a:moveTo>
                <a:lnTo>
                  <a:pt x="7467119" y="0"/>
                </a:lnTo>
                <a:lnTo>
                  <a:pt x="7467119" y="4351383"/>
                </a:lnTo>
                <a:lnTo>
                  <a:pt x="0" y="4351383"/>
                </a:lnTo>
                <a:lnTo>
                  <a:pt x="0" y="0"/>
                </a:lnTo>
                <a:close/>
              </a:path>
            </a:pathLst>
          </a:custGeom>
          <a:blipFill>
            <a:blip r:embed="rId11"/>
            <a:stretch>
              <a:fillRect l="0" t="0" r="-1566" b="0"/>
            </a:stretch>
          </a:blipFill>
        </p:spPr>
      </p:sp>
      <p:sp>
        <p:nvSpPr>
          <p:cNvPr name="Freeform 16" id="16"/>
          <p:cNvSpPr/>
          <p:nvPr/>
        </p:nvSpPr>
        <p:spPr>
          <a:xfrm flipH="false" flipV="false" rot="0">
            <a:off x="9975422" y="4279969"/>
            <a:ext cx="7704338" cy="4516668"/>
          </a:xfrm>
          <a:custGeom>
            <a:avLst/>
            <a:gdLst/>
            <a:ahLst/>
            <a:cxnLst/>
            <a:rect r="r" b="b" t="t" l="l"/>
            <a:pathLst>
              <a:path h="4516668" w="7704338">
                <a:moveTo>
                  <a:pt x="0" y="0"/>
                </a:moveTo>
                <a:lnTo>
                  <a:pt x="7704338" y="0"/>
                </a:lnTo>
                <a:lnTo>
                  <a:pt x="7704338" y="4516668"/>
                </a:lnTo>
                <a:lnTo>
                  <a:pt x="0" y="4516668"/>
                </a:lnTo>
                <a:lnTo>
                  <a:pt x="0" y="0"/>
                </a:lnTo>
                <a:close/>
              </a:path>
            </a:pathLst>
          </a:custGeom>
          <a:blipFill>
            <a:blip r:embed="rId12"/>
            <a:stretch>
              <a:fillRect l="0" t="0" r="0" b="0"/>
            </a:stretch>
          </a:blipFill>
        </p:spPr>
      </p:sp>
      <p:sp>
        <p:nvSpPr>
          <p:cNvPr name="TextBox 17" id="17"/>
          <p:cNvSpPr txBox="true"/>
          <p:nvPr/>
        </p:nvSpPr>
        <p:spPr>
          <a:xfrm rot="0">
            <a:off x="720878" y="169513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1627690" y="321192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Login Admin dan Guru</a:t>
            </a:r>
          </a:p>
        </p:txBody>
      </p:sp>
      <p:sp>
        <p:nvSpPr>
          <p:cNvPr name="TextBox 19" id="19"/>
          <p:cNvSpPr txBox="true"/>
          <p:nvPr/>
        </p:nvSpPr>
        <p:spPr>
          <a:xfrm rot="0">
            <a:off x="10945192" y="3007823"/>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Registrasi Akun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442845" y="4482020"/>
            <a:ext cx="7635136" cy="5568483"/>
          </a:xfrm>
          <a:custGeom>
            <a:avLst/>
            <a:gdLst/>
            <a:ahLst/>
            <a:cxnLst/>
            <a:rect r="r" b="b" t="t" l="l"/>
            <a:pathLst>
              <a:path h="5568483" w="7635136">
                <a:moveTo>
                  <a:pt x="0" y="0"/>
                </a:moveTo>
                <a:lnTo>
                  <a:pt x="7635136" y="0"/>
                </a:lnTo>
                <a:lnTo>
                  <a:pt x="7635136" y="5568483"/>
                </a:lnTo>
                <a:lnTo>
                  <a:pt x="0" y="5568483"/>
                </a:lnTo>
                <a:lnTo>
                  <a:pt x="0" y="0"/>
                </a:lnTo>
                <a:close/>
              </a:path>
            </a:pathLst>
          </a:custGeom>
          <a:blipFill>
            <a:blip r:embed="rId11"/>
            <a:stretch>
              <a:fillRect l="0" t="0" r="0" b="0"/>
            </a:stretch>
          </a:blipFill>
        </p:spPr>
      </p:sp>
      <p:sp>
        <p:nvSpPr>
          <p:cNvPr name="Freeform 16" id="16"/>
          <p:cNvSpPr/>
          <p:nvPr/>
        </p:nvSpPr>
        <p:spPr>
          <a:xfrm flipH="false" flipV="false" rot="0">
            <a:off x="9128238" y="4482020"/>
            <a:ext cx="8899354" cy="5539848"/>
          </a:xfrm>
          <a:custGeom>
            <a:avLst/>
            <a:gdLst/>
            <a:ahLst/>
            <a:cxnLst/>
            <a:rect r="r" b="b" t="t" l="l"/>
            <a:pathLst>
              <a:path h="5539848" w="8899354">
                <a:moveTo>
                  <a:pt x="0" y="0"/>
                </a:moveTo>
                <a:lnTo>
                  <a:pt x="8899353" y="0"/>
                </a:lnTo>
                <a:lnTo>
                  <a:pt x="8899353" y="5539848"/>
                </a:lnTo>
                <a:lnTo>
                  <a:pt x="0" y="5539848"/>
                </a:lnTo>
                <a:lnTo>
                  <a:pt x="0" y="0"/>
                </a:lnTo>
                <a:close/>
              </a:path>
            </a:pathLst>
          </a:custGeom>
          <a:blipFill>
            <a:blip r:embed="rId12"/>
            <a:stretch>
              <a:fillRect l="0" t="0" r="0" b="0"/>
            </a:stretch>
          </a:blipFill>
        </p:spPr>
      </p:sp>
      <p:sp>
        <p:nvSpPr>
          <p:cNvPr name="TextBox 17" id="17"/>
          <p:cNvSpPr txBox="true"/>
          <p:nvPr/>
        </p:nvSpPr>
        <p:spPr>
          <a:xfrm rot="0">
            <a:off x="720878" y="169513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1627690" y="321192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Kelola Data Siswa</a:t>
            </a:r>
          </a:p>
        </p:txBody>
      </p:sp>
      <p:sp>
        <p:nvSpPr>
          <p:cNvPr name="TextBox 19" id="19"/>
          <p:cNvSpPr txBox="true"/>
          <p:nvPr/>
        </p:nvSpPr>
        <p:spPr>
          <a:xfrm rot="0">
            <a:off x="10945192" y="3007823"/>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Kelola Data Guru</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306867" y="4655605"/>
            <a:ext cx="8341652" cy="5192678"/>
          </a:xfrm>
          <a:custGeom>
            <a:avLst/>
            <a:gdLst/>
            <a:ahLst/>
            <a:cxnLst/>
            <a:rect r="r" b="b" t="t" l="l"/>
            <a:pathLst>
              <a:path h="5192678" w="8341652">
                <a:moveTo>
                  <a:pt x="0" y="0"/>
                </a:moveTo>
                <a:lnTo>
                  <a:pt x="8341651" y="0"/>
                </a:lnTo>
                <a:lnTo>
                  <a:pt x="8341651" y="5192678"/>
                </a:lnTo>
                <a:lnTo>
                  <a:pt x="0" y="5192678"/>
                </a:lnTo>
                <a:lnTo>
                  <a:pt x="0" y="0"/>
                </a:lnTo>
                <a:close/>
              </a:path>
            </a:pathLst>
          </a:custGeom>
          <a:blipFill>
            <a:blip r:embed="rId11"/>
            <a:stretch>
              <a:fillRect l="0" t="0" r="0" b="0"/>
            </a:stretch>
          </a:blipFill>
        </p:spPr>
      </p:sp>
      <p:sp>
        <p:nvSpPr>
          <p:cNvPr name="Freeform 16" id="16"/>
          <p:cNvSpPr/>
          <p:nvPr/>
        </p:nvSpPr>
        <p:spPr>
          <a:xfrm flipH="false" flipV="false" rot="0">
            <a:off x="9975422" y="4088182"/>
            <a:ext cx="7898701" cy="5983266"/>
          </a:xfrm>
          <a:custGeom>
            <a:avLst/>
            <a:gdLst/>
            <a:ahLst/>
            <a:cxnLst/>
            <a:rect r="r" b="b" t="t" l="l"/>
            <a:pathLst>
              <a:path h="5983266" w="7898701">
                <a:moveTo>
                  <a:pt x="0" y="0"/>
                </a:moveTo>
                <a:lnTo>
                  <a:pt x="7898701" y="0"/>
                </a:lnTo>
                <a:lnTo>
                  <a:pt x="7898701" y="5983266"/>
                </a:lnTo>
                <a:lnTo>
                  <a:pt x="0" y="5983266"/>
                </a:lnTo>
                <a:lnTo>
                  <a:pt x="0" y="0"/>
                </a:lnTo>
                <a:close/>
              </a:path>
            </a:pathLst>
          </a:custGeom>
          <a:blipFill>
            <a:blip r:embed="rId12"/>
            <a:stretch>
              <a:fillRect l="0" t="0" r="0" b="0"/>
            </a:stretch>
          </a:blipFill>
        </p:spPr>
      </p:sp>
      <p:sp>
        <p:nvSpPr>
          <p:cNvPr name="TextBox 17" id="17"/>
          <p:cNvSpPr txBox="true"/>
          <p:nvPr/>
        </p:nvSpPr>
        <p:spPr>
          <a:xfrm rot="0">
            <a:off x="720878" y="169513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1627690" y="321192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Kelola Kelas</a:t>
            </a:r>
          </a:p>
        </p:txBody>
      </p:sp>
      <p:sp>
        <p:nvSpPr>
          <p:cNvPr name="TextBox 19" id="19"/>
          <p:cNvSpPr txBox="true"/>
          <p:nvPr/>
        </p:nvSpPr>
        <p:spPr>
          <a:xfrm rot="0">
            <a:off x="10945192" y="3007823"/>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Penyusunan Jadwal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66170" y="4834445"/>
            <a:ext cx="8389306" cy="4539346"/>
          </a:xfrm>
          <a:custGeom>
            <a:avLst/>
            <a:gdLst/>
            <a:ahLst/>
            <a:cxnLst/>
            <a:rect r="r" b="b" t="t" l="l"/>
            <a:pathLst>
              <a:path h="4539346" w="8389306">
                <a:moveTo>
                  <a:pt x="0" y="0"/>
                </a:moveTo>
                <a:lnTo>
                  <a:pt x="8389306" y="0"/>
                </a:lnTo>
                <a:lnTo>
                  <a:pt x="8389306" y="4539347"/>
                </a:lnTo>
                <a:lnTo>
                  <a:pt x="0" y="4539347"/>
                </a:lnTo>
                <a:lnTo>
                  <a:pt x="0" y="0"/>
                </a:lnTo>
                <a:close/>
              </a:path>
            </a:pathLst>
          </a:custGeom>
          <a:blipFill>
            <a:blip r:embed="rId11"/>
            <a:stretch>
              <a:fillRect l="0" t="0" r="0" b="0"/>
            </a:stretch>
          </a:blipFill>
        </p:spPr>
      </p:sp>
      <p:sp>
        <p:nvSpPr>
          <p:cNvPr name="Freeform 16" id="16"/>
          <p:cNvSpPr/>
          <p:nvPr/>
        </p:nvSpPr>
        <p:spPr>
          <a:xfrm flipH="false" flipV="false" rot="0">
            <a:off x="9975422" y="4088182"/>
            <a:ext cx="7632508" cy="5970671"/>
          </a:xfrm>
          <a:custGeom>
            <a:avLst/>
            <a:gdLst/>
            <a:ahLst/>
            <a:cxnLst/>
            <a:rect r="r" b="b" t="t" l="l"/>
            <a:pathLst>
              <a:path h="5970671" w="7632508">
                <a:moveTo>
                  <a:pt x="0" y="0"/>
                </a:moveTo>
                <a:lnTo>
                  <a:pt x="7632507" y="0"/>
                </a:lnTo>
                <a:lnTo>
                  <a:pt x="7632507" y="5970671"/>
                </a:lnTo>
                <a:lnTo>
                  <a:pt x="0" y="5970671"/>
                </a:lnTo>
                <a:lnTo>
                  <a:pt x="0" y="0"/>
                </a:lnTo>
                <a:close/>
              </a:path>
            </a:pathLst>
          </a:custGeom>
          <a:blipFill>
            <a:blip r:embed="rId12"/>
            <a:stretch>
              <a:fillRect l="0" t="0" r="0" b="0"/>
            </a:stretch>
          </a:blipFill>
        </p:spPr>
      </p:sp>
      <p:sp>
        <p:nvSpPr>
          <p:cNvPr name="TextBox 17" id="17"/>
          <p:cNvSpPr txBox="true"/>
          <p:nvPr/>
        </p:nvSpPr>
        <p:spPr>
          <a:xfrm rot="0">
            <a:off x="720878" y="169513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1627690" y="321192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Lihat Jadwal Pelajaran</a:t>
            </a:r>
          </a:p>
        </p:txBody>
      </p:sp>
      <p:sp>
        <p:nvSpPr>
          <p:cNvPr name="TextBox 19" id="19"/>
          <p:cNvSpPr txBox="true"/>
          <p:nvPr/>
        </p:nvSpPr>
        <p:spPr>
          <a:xfrm rot="0">
            <a:off x="10945192" y="3007823"/>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Activity Diagram Input Nilai oleh Guru</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770750" y="2034540"/>
            <a:ext cx="7277858" cy="8078336"/>
          </a:xfrm>
          <a:custGeom>
            <a:avLst/>
            <a:gdLst/>
            <a:ahLst/>
            <a:cxnLst/>
            <a:rect r="r" b="b" t="t" l="l"/>
            <a:pathLst>
              <a:path h="8078336" w="7277858">
                <a:moveTo>
                  <a:pt x="0" y="0"/>
                </a:moveTo>
                <a:lnTo>
                  <a:pt x="7277858" y="0"/>
                </a:lnTo>
                <a:lnTo>
                  <a:pt x="7277858" y="8078337"/>
                </a:lnTo>
                <a:lnTo>
                  <a:pt x="0" y="8078337"/>
                </a:lnTo>
                <a:lnTo>
                  <a:pt x="0" y="0"/>
                </a:lnTo>
                <a:close/>
              </a:path>
            </a:pathLst>
          </a:custGeom>
          <a:blipFill>
            <a:blip r:embed="rId11"/>
            <a:stretch>
              <a:fillRect l="0" t="-527" r="0" b="-527"/>
            </a:stretch>
          </a:blipFill>
        </p:spPr>
      </p:sp>
      <p:sp>
        <p:nvSpPr>
          <p:cNvPr name="TextBox 16" id="16"/>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003320" y="4440587"/>
            <a:ext cx="8388825" cy="5170118"/>
          </a:xfrm>
          <a:custGeom>
            <a:avLst/>
            <a:gdLst/>
            <a:ahLst/>
            <a:cxnLst/>
            <a:rect r="r" b="b" t="t" l="l"/>
            <a:pathLst>
              <a:path h="5170118" w="8388825">
                <a:moveTo>
                  <a:pt x="0" y="0"/>
                </a:moveTo>
                <a:lnTo>
                  <a:pt x="8388825" y="0"/>
                </a:lnTo>
                <a:lnTo>
                  <a:pt x="8388825" y="5170118"/>
                </a:lnTo>
                <a:lnTo>
                  <a:pt x="0" y="5170118"/>
                </a:lnTo>
                <a:lnTo>
                  <a:pt x="0" y="0"/>
                </a:lnTo>
                <a:close/>
              </a:path>
            </a:pathLst>
          </a:custGeom>
          <a:blipFill>
            <a:blip r:embed="rId11"/>
            <a:stretch>
              <a:fillRect l="0" t="0" r="0" b="0"/>
            </a:stretch>
          </a:blipFill>
        </p:spPr>
      </p:sp>
      <p:sp>
        <p:nvSpPr>
          <p:cNvPr name="Freeform 16" id="16"/>
          <p:cNvSpPr/>
          <p:nvPr/>
        </p:nvSpPr>
        <p:spPr>
          <a:xfrm flipH="false" flipV="false" rot="0">
            <a:off x="10631516" y="4023591"/>
            <a:ext cx="7261465" cy="6004110"/>
          </a:xfrm>
          <a:custGeom>
            <a:avLst/>
            <a:gdLst/>
            <a:ahLst/>
            <a:cxnLst/>
            <a:rect r="r" b="b" t="t" l="l"/>
            <a:pathLst>
              <a:path h="6004110" w="7261465">
                <a:moveTo>
                  <a:pt x="0" y="0"/>
                </a:moveTo>
                <a:lnTo>
                  <a:pt x="7261465" y="0"/>
                </a:lnTo>
                <a:lnTo>
                  <a:pt x="7261465" y="6004110"/>
                </a:lnTo>
                <a:lnTo>
                  <a:pt x="0" y="6004110"/>
                </a:lnTo>
                <a:lnTo>
                  <a:pt x="0" y="0"/>
                </a:lnTo>
                <a:close/>
              </a:path>
            </a:pathLst>
          </a:custGeom>
          <a:blipFill>
            <a:blip r:embed="rId12"/>
            <a:stretch>
              <a:fillRect l="0" t="0" r="0" b="0"/>
            </a:stretch>
          </a:blipFill>
        </p:spPr>
      </p:sp>
      <p:sp>
        <p:nvSpPr>
          <p:cNvPr name="TextBox 17" id="17"/>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2337566" y="3596444"/>
            <a:ext cx="5265446" cy="46999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Login</a:t>
            </a:r>
          </a:p>
        </p:txBody>
      </p:sp>
      <p:sp>
        <p:nvSpPr>
          <p:cNvPr name="TextBox 19" id="19"/>
          <p:cNvSpPr txBox="true"/>
          <p:nvPr/>
        </p:nvSpPr>
        <p:spPr>
          <a:xfrm rot="0">
            <a:off x="10945192" y="3069299"/>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Registrasi Akun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817557" y="4215733"/>
            <a:ext cx="8326443" cy="5811968"/>
          </a:xfrm>
          <a:custGeom>
            <a:avLst/>
            <a:gdLst/>
            <a:ahLst/>
            <a:cxnLst/>
            <a:rect r="r" b="b" t="t" l="l"/>
            <a:pathLst>
              <a:path h="5811968" w="8326443">
                <a:moveTo>
                  <a:pt x="0" y="0"/>
                </a:moveTo>
                <a:lnTo>
                  <a:pt x="8326443" y="0"/>
                </a:lnTo>
                <a:lnTo>
                  <a:pt x="8326443" y="5811968"/>
                </a:lnTo>
                <a:lnTo>
                  <a:pt x="0" y="5811968"/>
                </a:lnTo>
                <a:lnTo>
                  <a:pt x="0" y="0"/>
                </a:lnTo>
                <a:close/>
              </a:path>
            </a:pathLst>
          </a:custGeom>
          <a:blipFill>
            <a:blip r:embed="rId11"/>
            <a:stretch>
              <a:fillRect l="0" t="0" r="0" b="0"/>
            </a:stretch>
          </a:blipFill>
        </p:spPr>
      </p:sp>
      <p:sp>
        <p:nvSpPr>
          <p:cNvPr name="Freeform 16" id="16"/>
          <p:cNvSpPr/>
          <p:nvPr/>
        </p:nvSpPr>
        <p:spPr>
          <a:xfrm flipH="false" flipV="false" rot="0">
            <a:off x="9392145" y="4215733"/>
            <a:ext cx="8658387" cy="5741390"/>
          </a:xfrm>
          <a:custGeom>
            <a:avLst/>
            <a:gdLst/>
            <a:ahLst/>
            <a:cxnLst/>
            <a:rect r="r" b="b" t="t" l="l"/>
            <a:pathLst>
              <a:path h="5741390" w="8658387">
                <a:moveTo>
                  <a:pt x="0" y="0"/>
                </a:moveTo>
                <a:lnTo>
                  <a:pt x="8658386" y="0"/>
                </a:lnTo>
                <a:lnTo>
                  <a:pt x="8658386" y="5741391"/>
                </a:lnTo>
                <a:lnTo>
                  <a:pt x="0" y="5741391"/>
                </a:lnTo>
                <a:lnTo>
                  <a:pt x="0" y="0"/>
                </a:lnTo>
                <a:close/>
              </a:path>
            </a:pathLst>
          </a:custGeom>
          <a:blipFill>
            <a:blip r:embed="rId12"/>
            <a:stretch>
              <a:fillRect l="0" t="0" r="0" b="0"/>
            </a:stretch>
          </a:blipFill>
        </p:spPr>
      </p:sp>
      <p:sp>
        <p:nvSpPr>
          <p:cNvPr name="TextBox 17" id="17"/>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2337566" y="311544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Kelola Data Siswa</a:t>
            </a:r>
          </a:p>
        </p:txBody>
      </p:sp>
      <p:sp>
        <p:nvSpPr>
          <p:cNvPr name="TextBox 19" id="19"/>
          <p:cNvSpPr txBox="true"/>
          <p:nvPr/>
        </p:nvSpPr>
        <p:spPr>
          <a:xfrm rot="0">
            <a:off x="10945192" y="3069299"/>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Kelola Data Guru</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993634" y="4084373"/>
            <a:ext cx="7534379" cy="6004110"/>
          </a:xfrm>
          <a:custGeom>
            <a:avLst/>
            <a:gdLst/>
            <a:ahLst/>
            <a:cxnLst/>
            <a:rect r="r" b="b" t="t" l="l"/>
            <a:pathLst>
              <a:path h="6004110" w="7534379">
                <a:moveTo>
                  <a:pt x="0" y="0"/>
                </a:moveTo>
                <a:lnTo>
                  <a:pt x="7534378" y="0"/>
                </a:lnTo>
                <a:lnTo>
                  <a:pt x="7534378" y="6004111"/>
                </a:lnTo>
                <a:lnTo>
                  <a:pt x="0" y="6004111"/>
                </a:lnTo>
                <a:lnTo>
                  <a:pt x="0" y="0"/>
                </a:lnTo>
                <a:close/>
              </a:path>
            </a:pathLst>
          </a:custGeom>
          <a:blipFill>
            <a:blip r:embed="rId11"/>
            <a:stretch>
              <a:fillRect l="0" t="0" r="0" b="0"/>
            </a:stretch>
          </a:blipFill>
        </p:spPr>
      </p:sp>
      <p:sp>
        <p:nvSpPr>
          <p:cNvPr name="Freeform 16" id="16"/>
          <p:cNvSpPr/>
          <p:nvPr/>
        </p:nvSpPr>
        <p:spPr>
          <a:xfrm flipH="false" flipV="false" rot="0">
            <a:off x="10959277" y="3037447"/>
            <a:ext cx="6245479" cy="7168412"/>
          </a:xfrm>
          <a:custGeom>
            <a:avLst/>
            <a:gdLst/>
            <a:ahLst/>
            <a:cxnLst/>
            <a:rect r="r" b="b" t="t" l="l"/>
            <a:pathLst>
              <a:path h="7168412" w="6245479">
                <a:moveTo>
                  <a:pt x="0" y="0"/>
                </a:moveTo>
                <a:lnTo>
                  <a:pt x="6245479" y="0"/>
                </a:lnTo>
                <a:lnTo>
                  <a:pt x="6245479" y="7168411"/>
                </a:lnTo>
                <a:lnTo>
                  <a:pt x="0" y="7168411"/>
                </a:lnTo>
                <a:lnTo>
                  <a:pt x="0" y="0"/>
                </a:lnTo>
                <a:close/>
              </a:path>
            </a:pathLst>
          </a:custGeom>
          <a:blipFill>
            <a:blip r:embed="rId12"/>
            <a:stretch>
              <a:fillRect l="0" t="0" r="0" b="0"/>
            </a:stretch>
          </a:blipFill>
        </p:spPr>
      </p:sp>
      <p:sp>
        <p:nvSpPr>
          <p:cNvPr name="TextBox 17" id="17"/>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2337566" y="311544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Kelola Data Kelas</a:t>
            </a:r>
          </a:p>
        </p:txBody>
      </p:sp>
      <p:sp>
        <p:nvSpPr>
          <p:cNvPr name="TextBox 19" id="19"/>
          <p:cNvSpPr txBox="true"/>
          <p:nvPr/>
        </p:nvSpPr>
        <p:spPr>
          <a:xfrm rot="0">
            <a:off x="11271767" y="2017524"/>
            <a:ext cx="62941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Penyusunan Jadwal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52A50"/>
        </a:solidFill>
      </p:bgPr>
    </p:bg>
    <p:spTree>
      <p:nvGrpSpPr>
        <p:cNvPr id="1" name=""/>
        <p:cNvGrpSpPr/>
        <p:nvPr/>
      </p:nvGrpSpPr>
      <p:grpSpPr>
        <a:xfrm>
          <a:off x="0" y="0"/>
          <a:ext cx="0" cy="0"/>
          <a:chOff x="0" y="0"/>
          <a:chExt cx="0" cy="0"/>
        </a:xfrm>
      </p:grpSpPr>
      <p:sp>
        <p:nvSpPr>
          <p:cNvPr name="Freeform 2" id="2"/>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29501" y="163453"/>
            <a:ext cx="9262643" cy="1052603"/>
            <a:chOff x="0" y="0"/>
            <a:chExt cx="12350191" cy="1403471"/>
          </a:xfrm>
        </p:grpSpPr>
        <p:sp>
          <p:nvSpPr>
            <p:cNvPr name="Freeform 10" id="10"/>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0"/>
              <a:stretch>
                <a:fillRect l="0" t="0" r="0" b="0"/>
              </a:stretch>
            </a:blipFill>
          </p:spPr>
        </p:sp>
        <p:sp>
          <p:nvSpPr>
            <p:cNvPr name="TextBox 11" id="11"/>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grpSp>
        <p:nvGrpSpPr>
          <p:cNvPr name="Group 12" id="12"/>
          <p:cNvGrpSpPr/>
          <p:nvPr/>
        </p:nvGrpSpPr>
        <p:grpSpPr>
          <a:xfrm rot="0">
            <a:off x="1503783" y="4088182"/>
            <a:ext cx="8471639" cy="4708455"/>
            <a:chOff x="0" y="0"/>
            <a:chExt cx="2231214" cy="1240087"/>
          </a:xfrm>
        </p:grpSpPr>
        <p:sp>
          <p:nvSpPr>
            <p:cNvPr name="Freeform 13" id="13"/>
            <p:cNvSpPr/>
            <p:nvPr/>
          </p:nvSpPr>
          <p:spPr>
            <a:xfrm flipH="false" flipV="false" rot="0">
              <a:off x="0" y="0"/>
              <a:ext cx="2231214" cy="1240087"/>
            </a:xfrm>
            <a:custGeom>
              <a:avLst/>
              <a:gdLst/>
              <a:ahLst/>
              <a:cxnLst/>
              <a:rect r="r" b="b" t="t" l="l"/>
              <a:pathLst>
                <a:path h="1240087" w="2231214">
                  <a:moveTo>
                    <a:pt x="65798" y="0"/>
                  </a:moveTo>
                  <a:lnTo>
                    <a:pt x="2165415" y="0"/>
                  </a:lnTo>
                  <a:cubicBezTo>
                    <a:pt x="2182866" y="0"/>
                    <a:pt x="2199602" y="6932"/>
                    <a:pt x="2211942" y="19272"/>
                  </a:cubicBezTo>
                  <a:cubicBezTo>
                    <a:pt x="2224281" y="31611"/>
                    <a:pt x="2231214" y="48347"/>
                    <a:pt x="2231214" y="65798"/>
                  </a:cubicBezTo>
                  <a:lnTo>
                    <a:pt x="2231214" y="1174289"/>
                  </a:lnTo>
                  <a:cubicBezTo>
                    <a:pt x="2231214" y="1191740"/>
                    <a:pt x="2224281" y="1208476"/>
                    <a:pt x="2211942" y="1220815"/>
                  </a:cubicBezTo>
                  <a:cubicBezTo>
                    <a:pt x="2199602" y="1233155"/>
                    <a:pt x="2182866" y="1240087"/>
                    <a:pt x="2165415" y="1240087"/>
                  </a:cubicBezTo>
                  <a:lnTo>
                    <a:pt x="65798" y="1240087"/>
                  </a:lnTo>
                  <a:cubicBezTo>
                    <a:pt x="48347" y="1240087"/>
                    <a:pt x="31611" y="1233155"/>
                    <a:pt x="19272" y="1220815"/>
                  </a:cubicBezTo>
                  <a:cubicBezTo>
                    <a:pt x="6932" y="1208476"/>
                    <a:pt x="0" y="1191740"/>
                    <a:pt x="0" y="1174289"/>
                  </a:cubicBezTo>
                  <a:lnTo>
                    <a:pt x="0" y="65798"/>
                  </a:lnTo>
                  <a:cubicBezTo>
                    <a:pt x="0" y="48347"/>
                    <a:pt x="6932" y="31611"/>
                    <a:pt x="19272" y="19272"/>
                  </a:cubicBezTo>
                  <a:cubicBezTo>
                    <a:pt x="31611" y="6932"/>
                    <a:pt x="48347" y="0"/>
                    <a:pt x="65798" y="0"/>
                  </a:cubicBezTo>
                  <a:close/>
                </a:path>
              </a:pathLst>
            </a:custGeom>
            <a:solidFill>
              <a:srgbClr val="002C4F"/>
            </a:solidFill>
          </p:spPr>
        </p:sp>
        <p:sp>
          <p:nvSpPr>
            <p:cNvPr name="TextBox 14" id="14"/>
            <p:cNvSpPr txBox="true"/>
            <p:nvPr/>
          </p:nvSpPr>
          <p:spPr>
            <a:xfrm>
              <a:off x="0" y="-38100"/>
              <a:ext cx="2231214" cy="127818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67760" y="4561333"/>
            <a:ext cx="8719461" cy="5049372"/>
          </a:xfrm>
          <a:custGeom>
            <a:avLst/>
            <a:gdLst/>
            <a:ahLst/>
            <a:cxnLst/>
            <a:rect r="r" b="b" t="t" l="l"/>
            <a:pathLst>
              <a:path h="5049372" w="8719461">
                <a:moveTo>
                  <a:pt x="0" y="0"/>
                </a:moveTo>
                <a:lnTo>
                  <a:pt x="8719461" y="0"/>
                </a:lnTo>
                <a:lnTo>
                  <a:pt x="8719461" y="5049372"/>
                </a:lnTo>
                <a:lnTo>
                  <a:pt x="0" y="5049372"/>
                </a:lnTo>
                <a:lnTo>
                  <a:pt x="0" y="0"/>
                </a:lnTo>
                <a:close/>
              </a:path>
            </a:pathLst>
          </a:custGeom>
          <a:blipFill>
            <a:blip r:embed="rId11"/>
            <a:stretch>
              <a:fillRect l="0" t="0" r="0" b="0"/>
            </a:stretch>
          </a:blipFill>
        </p:spPr>
      </p:sp>
      <p:sp>
        <p:nvSpPr>
          <p:cNvPr name="Freeform 16" id="16"/>
          <p:cNvSpPr/>
          <p:nvPr/>
        </p:nvSpPr>
        <p:spPr>
          <a:xfrm flipH="false" flipV="false" rot="0">
            <a:off x="9421625" y="4586868"/>
            <a:ext cx="8312578" cy="5023836"/>
          </a:xfrm>
          <a:custGeom>
            <a:avLst/>
            <a:gdLst/>
            <a:ahLst/>
            <a:cxnLst/>
            <a:rect r="r" b="b" t="t" l="l"/>
            <a:pathLst>
              <a:path h="5023836" w="8312578">
                <a:moveTo>
                  <a:pt x="0" y="0"/>
                </a:moveTo>
                <a:lnTo>
                  <a:pt x="8312578" y="0"/>
                </a:lnTo>
                <a:lnTo>
                  <a:pt x="8312578" y="5023837"/>
                </a:lnTo>
                <a:lnTo>
                  <a:pt x="0" y="5023837"/>
                </a:lnTo>
                <a:lnTo>
                  <a:pt x="0" y="0"/>
                </a:lnTo>
                <a:close/>
              </a:path>
            </a:pathLst>
          </a:custGeom>
          <a:blipFill>
            <a:blip r:embed="rId12"/>
            <a:stretch>
              <a:fillRect l="0" t="0" r="0" b="0"/>
            </a:stretch>
          </a:blipFill>
        </p:spPr>
      </p:sp>
      <p:sp>
        <p:nvSpPr>
          <p:cNvPr name="TextBox 17" id="17"/>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8" id="18"/>
          <p:cNvSpPr txBox="true"/>
          <p:nvPr/>
        </p:nvSpPr>
        <p:spPr>
          <a:xfrm rot="0">
            <a:off x="2337566" y="3115446"/>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Lihat Jadwal Pelajaran</a:t>
            </a:r>
          </a:p>
        </p:txBody>
      </p:sp>
      <p:sp>
        <p:nvSpPr>
          <p:cNvPr name="TextBox 19" id="19"/>
          <p:cNvSpPr txBox="true"/>
          <p:nvPr/>
        </p:nvSpPr>
        <p:spPr>
          <a:xfrm rot="0">
            <a:off x="10638321" y="3113797"/>
            <a:ext cx="62941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Sequence Diagram Input Nilai oleh Guru</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9501" y="163453"/>
            <a:ext cx="9262643" cy="1052603"/>
            <a:chOff x="0" y="0"/>
            <a:chExt cx="12350191" cy="1403471"/>
          </a:xfrm>
        </p:grpSpPr>
        <p:sp>
          <p:nvSpPr>
            <p:cNvPr name="Freeform 12" id="12"/>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3" id="13"/>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4" id="14"/>
          <p:cNvSpPr/>
          <p:nvPr/>
        </p:nvSpPr>
        <p:spPr>
          <a:xfrm flipH="false" flipV="false" rot="0">
            <a:off x="1347808" y="4267201"/>
            <a:ext cx="5811968" cy="5938657"/>
          </a:xfrm>
          <a:custGeom>
            <a:avLst/>
            <a:gdLst/>
            <a:ahLst/>
            <a:cxnLst/>
            <a:rect r="r" b="b" t="t" l="l"/>
            <a:pathLst>
              <a:path h="5938657" w="5811968">
                <a:moveTo>
                  <a:pt x="0" y="0"/>
                </a:moveTo>
                <a:lnTo>
                  <a:pt x="5811968" y="0"/>
                </a:lnTo>
                <a:lnTo>
                  <a:pt x="5811968" y="5938657"/>
                </a:lnTo>
                <a:lnTo>
                  <a:pt x="0" y="5938657"/>
                </a:lnTo>
                <a:lnTo>
                  <a:pt x="0" y="0"/>
                </a:lnTo>
                <a:close/>
              </a:path>
            </a:pathLst>
          </a:custGeom>
          <a:blipFill>
            <a:blip r:embed="rId12"/>
            <a:stretch>
              <a:fillRect l="-1089" t="0" r="-1089" b="0"/>
            </a:stretch>
          </a:blipFill>
        </p:spPr>
      </p:sp>
      <p:sp>
        <p:nvSpPr>
          <p:cNvPr name="Freeform 15" id="15"/>
          <p:cNvSpPr/>
          <p:nvPr/>
        </p:nvSpPr>
        <p:spPr>
          <a:xfrm flipH="false" flipV="false" rot="0">
            <a:off x="8481052" y="4510938"/>
            <a:ext cx="9673319" cy="5451183"/>
          </a:xfrm>
          <a:custGeom>
            <a:avLst/>
            <a:gdLst/>
            <a:ahLst/>
            <a:cxnLst/>
            <a:rect r="r" b="b" t="t" l="l"/>
            <a:pathLst>
              <a:path h="5451183" w="9673319">
                <a:moveTo>
                  <a:pt x="0" y="0"/>
                </a:moveTo>
                <a:lnTo>
                  <a:pt x="9673318" y="0"/>
                </a:lnTo>
                <a:lnTo>
                  <a:pt x="9673318" y="5451183"/>
                </a:lnTo>
                <a:lnTo>
                  <a:pt x="0" y="5451183"/>
                </a:lnTo>
                <a:lnTo>
                  <a:pt x="0" y="0"/>
                </a:lnTo>
                <a:close/>
              </a:path>
            </a:pathLst>
          </a:custGeom>
          <a:blipFill>
            <a:blip r:embed="rId13"/>
            <a:stretch>
              <a:fillRect l="0" t="0" r="0" b="0"/>
            </a:stretch>
          </a:blipFill>
        </p:spPr>
      </p:sp>
      <p:sp>
        <p:nvSpPr>
          <p:cNvPr name="TextBox 16" id="16"/>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7" id="17"/>
          <p:cNvSpPr txBox="true"/>
          <p:nvPr/>
        </p:nvSpPr>
        <p:spPr>
          <a:xfrm rot="0">
            <a:off x="1748790" y="2929614"/>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Login Admin dan Guru</a:t>
            </a:r>
          </a:p>
        </p:txBody>
      </p:sp>
      <p:sp>
        <p:nvSpPr>
          <p:cNvPr name="TextBox 18" id="18"/>
          <p:cNvSpPr txBox="true"/>
          <p:nvPr/>
        </p:nvSpPr>
        <p:spPr>
          <a:xfrm rot="0">
            <a:off x="10684988" y="3079902"/>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Registrasi Akun Guru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9501" y="163453"/>
            <a:ext cx="9262643" cy="1052603"/>
            <a:chOff x="0" y="0"/>
            <a:chExt cx="12350191" cy="1403471"/>
          </a:xfrm>
        </p:grpSpPr>
        <p:sp>
          <p:nvSpPr>
            <p:cNvPr name="Freeform 12" id="12"/>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3" id="13"/>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4" id="14"/>
          <p:cNvSpPr/>
          <p:nvPr/>
        </p:nvSpPr>
        <p:spPr>
          <a:xfrm flipH="false" flipV="false" rot="0">
            <a:off x="507105" y="4575868"/>
            <a:ext cx="8405962" cy="4682432"/>
          </a:xfrm>
          <a:custGeom>
            <a:avLst/>
            <a:gdLst/>
            <a:ahLst/>
            <a:cxnLst/>
            <a:rect r="r" b="b" t="t" l="l"/>
            <a:pathLst>
              <a:path h="4682432" w="8405962">
                <a:moveTo>
                  <a:pt x="0" y="0"/>
                </a:moveTo>
                <a:lnTo>
                  <a:pt x="8405962" y="0"/>
                </a:lnTo>
                <a:lnTo>
                  <a:pt x="8405962" y="4682432"/>
                </a:lnTo>
                <a:lnTo>
                  <a:pt x="0" y="4682432"/>
                </a:lnTo>
                <a:lnTo>
                  <a:pt x="0" y="0"/>
                </a:lnTo>
                <a:close/>
              </a:path>
            </a:pathLst>
          </a:custGeom>
          <a:blipFill>
            <a:blip r:embed="rId12"/>
            <a:stretch>
              <a:fillRect l="0" t="0" r="0" b="0"/>
            </a:stretch>
          </a:blipFill>
        </p:spPr>
      </p:sp>
      <p:sp>
        <p:nvSpPr>
          <p:cNvPr name="Freeform 15" id="15"/>
          <p:cNvSpPr/>
          <p:nvPr/>
        </p:nvSpPr>
        <p:spPr>
          <a:xfrm flipH="false" flipV="false" rot="0">
            <a:off x="9193776" y="4519307"/>
            <a:ext cx="8768276" cy="4795553"/>
          </a:xfrm>
          <a:custGeom>
            <a:avLst/>
            <a:gdLst/>
            <a:ahLst/>
            <a:cxnLst/>
            <a:rect r="r" b="b" t="t" l="l"/>
            <a:pathLst>
              <a:path h="4795553" w="8768276">
                <a:moveTo>
                  <a:pt x="0" y="0"/>
                </a:moveTo>
                <a:lnTo>
                  <a:pt x="8768276" y="0"/>
                </a:lnTo>
                <a:lnTo>
                  <a:pt x="8768276" y="4795553"/>
                </a:lnTo>
                <a:lnTo>
                  <a:pt x="0" y="4795553"/>
                </a:lnTo>
                <a:lnTo>
                  <a:pt x="0" y="0"/>
                </a:lnTo>
                <a:close/>
              </a:path>
            </a:pathLst>
          </a:custGeom>
          <a:blipFill>
            <a:blip r:embed="rId13"/>
            <a:stretch>
              <a:fillRect l="0" t="0" r="0" b="0"/>
            </a:stretch>
          </a:blipFill>
        </p:spPr>
      </p:sp>
      <p:sp>
        <p:nvSpPr>
          <p:cNvPr name="TextBox 16" id="16"/>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7" id="17"/>
          <p:cNvSpPr txBox="true"/>
          <p:nvPr/>
        </p:nvSpPr>
        <p:spPr>
          <a:xfrm rot="0">
            <a:off x="1748790" y="2929614"/>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Kelola Data Siswa</a:t>
            </a:r>
          </a:p>
        </p:txBody>
      </p:sp>
      <p:sp>
        <p:nvSpPr>
          <p:cNvPr name="TextBox 18" id="18"/>
          <p:cNvSpPr txBox="true"/>
          <p:nvPr/>
        </p:nvSpPr>
        <p:spPr>
          <a:xfrm rot="0">
            <a:off x="10684988" y="3079902"/>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Kelola Data Guru</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9501" y="163453"/>
            <a:ext cx="9262643" cy="1052603"/>
            <a:chOff x="0" y="0"/>
            <a:chExt cx="12350191" cy="1403471"/>
          </a:xfrm>
        </p:grpSpPr>
        <p:sp>
          <p:nvSpPr>
            <p:cNvPr name="Freeform 12" id="12"/>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3" id="13"/>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4" id="14"/>
          <p:cNvSpPr/>
          <p:nvPr/>
        </p:nvSpPr>
        <p:spPr>
          <a:xfrm flipH="false" flipV="false" rot="0">
            <a:off x="129501" y="4559258"/>
            <a:ext cx="8789451" cy="4715652"/>
          </a:xfrm>
          <a:custGeom>
            <a:avLst/>
            <a:gdLst/>
            <a:ahLst/>
            <a:cxnLst/>
            <a:rect r="r" b="b" t="t" l="l"/>
            <a:pathLst>
              <a:path h="4715652" w="8789451">
                <a:moveTo>
                  <a:pt x="0" y="0"/>
                </a:moveTo>
                <a:lnTo>
                  <a:pt x="8789451" y="0"/>
                </a:lnTo>
                <a:lnTo>
                  <a:pt x="8789451" y="4715652"/>
                </a:lnTo>
                <a:lnTo>
                  <a:pt x="0" y="4715652"/>
                </a:lnTo>
                <a:lnTo>
                  <a:pt x="0" y="0"/>
                </a:lnTo>
                <a:close/>
              </a:path>
            </a:pathLst>
          </a:custGeom>
          <a:blipFill>
            <a:blip r:embed="rId12"/>
            <a:stretch>
              <a:fillRect l="0" t="0" r="0" b="0"/>
            </a:stretch>
          </a:blipFill>
        </p:spPr>
      </p:sp>
      <p:sp>
        <p:nvSpPr>
          <p:cNvPr name="Freeform 15" id="15"/>
          <p:cNvSpPr/>
          <p:nvPr/>
        </p:nvSpPr>
        <p:spPr>
          <a:xfrm flipH="false" flipV="false" rot="0">
            <a:off x="9144000" y="4497640"/>
            <a:ext cx="8997931" cy="4838887"/>
          </a:xfrm>
          <a:custGeom>
            <a:avLst/>
            <a:gdLst/>
            <a:ahLst/>
            <a:cxnLst/>
            <a:rect r="r" b="b" t="t" l="l"/>
            <a:pathLst>
              <a:path h="4838887" w="8997931">
                <a:moveTo>
                  <a:pt x="0" y="0"/>
                </a:moveTo>
                <a:lnTo>
                  <a:pt x="8997931" y="0"/>
                </a:lnTo>
                <a:lnTo>
                  <a:pt x="8997931" y="4838887"/>
                </a:lnTo>
                <a:lnTo>
                  <a:pt x="0" y="4838887"/>
                </a:lnTo>
                <a:lnTo>
                  <a:pt x="0" y="0"/>
                </a:lnTo>
                <a:close/>
              </a:path>
            </a:pathLst>
          </a:custGeom>
          <a:blipFill>
            <a:blip r:embed="rId13"/>
            <a:stretch>
              <a:fillRect l="0" t="0" r="0" b="0"/>
            </a:stretch>
          </a:blipFill>
        </p:spPr>
      </p:sp>
      <p:sp>
        <p:nvSpPr>
          <p:cNvPr name="TextBox 16" id="16"/>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7" id="17"/>
          <p:cNvSpPr txBox="true"/>
          <p:nvPr/>
        </p:nvSpPr>
        <p:spPr>
          <a:xfrm rot="0">
            <a:off x="1748790" y="2929614"/>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Kelola Kelas</a:t>
            </a:r>
          </a:p>
        </p:txBody>
      </p:sp>
      <p:sp>
        <p:nvSpPr>
          <p:cNvPr name="TextBox 18" id="18"/>
          <p:cNvSpPr txBox="true"/>
          <p:nvPr/>
        </p:nvSpPr>
        <p:spPr>
          <a:xfrm rot="0">
            <a:off x="10684988" y="3079902"/>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Jadwal Pelajaran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9501" y="163453"/>
            <a:ext cx="9262643" cy="1052603"/>
            <a:chOff x="0" y="0"/>
            <a:chExt cx="12350191" cy="1403471"/>
          </a:xfrm>
        </p:grpSpPr>
        <p:sp>
          <p:nvSpPr>
            <p:cNvPr name="Freeform 12" id="12"/>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3" id="13"/>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Freeform 14" id="14"/>
          <p:cNvSpPr/>
          <p:nvPr/>
        </p:nvSpPr>
        <p:spPr>
          <a:xfrm flipH="false" flipV="false" rot="0">
            <a:off x="5151349" y="3972941"/>
            <a:ext cx="8481592" cy="5637764"/>
          </a:xfrm>
          <a:custGeom>
            <a:avLst/>
            <a:gdLst/>
            <a:ahLst/>
            <a:cxnLst/>
            <a:rect r="r" b="b" t="t" l="l"/>
            <a:pathLst>
              <a:path h="5637764" w="8481592">
                <a:moveTo>
                  <a:pt x="0" y="0"/>
                </a:moveTo>
                <a:lnTo>
                  <a:pt x="8481592" y="0"/>
                </a:lnTo>
                <a:lnTo>
                  <a:pt x="8481592" y="5637764"/>
                </a:lnTo>
                <a:lnTo>
                  <a:pt x="0" y="5637764"/>
                </a:lnTo>
                <a:lnTo>
                  <a:pt x="0" y="0"/>
                </a:lnTo>
                <a:close/>
              </a:path>
            </a:pathLst>
          </a:custGeom>
          <a:blipFill>
            <a:blip r:embed="rId12"/>
            <a:stretch>
              <a:fillRect l="0" t="0" r="0" b="0"/>
            </a:stretch>
          </a:blipFill>
        </p:spPr>
      </p:sp>
      <p:sp>
        <p:nvSpPr>
          <p:cNvPr name="TextBox 15" id="15"/>
          <p:cNvSpPr txBox="true"/>
          <p:nvPr/>
        </p:nvSpPr>
        <p:spPr>
          <a:xfrm rot="0">
            <a:off x="1919881" y="1143000"/>
            <a:ext cx="11397829" cy="891540"/>
          </a:xfrm>
          <a:prstGeom prst="rect">
            <a:avLst/>
          </a:prstGeom>
        </p:spPr>
        <p:txBody>
          <a:bodyPr anchor="t" rtlCol="false" tIns="0" lIns="0" bIns="0" rIns="0">
            <a:spAutoFit/>
          </a:bodyPr>
          <a:lstStyle/>
          <a:p>
            <a:pPr algn="l">
              <a:lnSpc>
                <a:spcPts val="6600"/>
              </a:lnSpc>
            </a:pPr>
            <a:r>
              <a:rPr lang="en-US" sz="6600" b="true">
                <a:solidFill>
                  <a:srgbClr val="FCFEFD"/>
                </a:solidFill>
                <a:latin typeface="Inter Ultra-Bold"/>
                <a:ea typeface="Inter Ultra-Bold"/>
                <a:cs typeface="Inter Ultra-Bold"/>
                <a:sym typeface="Inter Ultra-Bold"/>
              </a:rPr>
              <a:t>SISTEM YANG DI USULKAN</a:t>
            </a:r>
          </a:p>
        </p:txBody>
      </p:sp>
      <p:sp>
        <p:nvSpPr>
          <p:cNvPr name="TextBox 16" id="16"/>
          <p:cNvSpPr txBox="true"/>
          <p:nvPr/>
        </p:nvSpPr>
        <p:spPr>
          <a:xfrm rot="0">
            <a:off x="6430849" y="2804353"/>
            <a:ext cx="5265446" cy="908144"/>
          </a:xfrm>
          <a:prstGeom prst="rect">
            <a:avLst/>
          </a:prstGeom>
        </p:spPr>
        <p:txBody>
          <a:bodyPr anchor="t" rtlCol="false" tIns="0" lIns="0" bIns="0" rIns="0">
            <a:spAutoFit/>
          </a:bodyPr>
          <a:lstStyle/>
          <a:p>
            <a:pPr algn="ctr">
              <a:lnSpc>
                <a:spcPts val="3503"/>
              </a:lnSpc>
            </a:pPr>
            <a:r>
              <a:rPr lang="en-US" sz="3503" b="true">
                <a:solidFill>
                  <a:srgbClr val="FFFFFF"/>
                </a:solidFill>
                <a:latin typeface="Sukar Heavy"/>
                <a:ea typeface="Sukar Heavy"/>
                <a:cs typeface="Sukar Heavy"/>
                <a:sym typeface="Sukar Heavy"/>
              </a:rPr>
              <a:t>Desain Tampilan Halaman Input Nilai oleh Guru</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9501" y="163453"/>
            <a:ext cx="9262643" cy="1052603"/>
            <a:chOff x="0" y="0"/>
            <a:chExt cx="12350191" cy="1403471"/>
          </a:xfrm>
        </p:grpSpPr>
        <p:sp>
          <p:nvSpPr>
            <p:cNvPr name="Freeform 12" id="12"/>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3" id="13"/>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TextBox 14" id="14"/>
          <p:cNvSpPr txBox="true"/>
          <p:nvPr/>
        </p:nvSpPr>
        <p:spPr>
          <a:xfrm rot="0">
            <a:off x="1517157" y="1712606"/>
            <a:ext cx="13094908" cy="980399"/>
          </a:xfrm>
          <a:prstGeom prst="rect">
            <a:avLst/>
          </a:prstGeom>
        </p:spPr>
        <p:txBody>
          <a:bodyPr anchor="t" rtlCol="false" tIns="0" lIns="0" bIns="0" rIns="0">
            <a:spAutoFit/>
          </a:bodyPr>
          <a:lstStyle/>
          <a:p>
            <a:pPr algn="l">
              <a:lnSpc>
                <a:spcPts val="7473"/>
              </a:lnSpc>
            </a:pPr>
            <a:r>
              <a:rPr lang="en-US" sz="7473" b="true">
                <a:solidFill>
                  <a:srgbClr val="FCFEFD"/>
                </a:solidFill>
                <a:latin typeface="Inter Ultra-Bold"/>
                <a:ea typeface="Inter Ultra-Bold"/>
                <a:cs typeface="Inter Ultra-Bold"/>
                <a:sym typeface="Inter Ultra-Bold"/>
              </a:rPr>
              <a:t>KESIMPULAN </a:t>
            </a:r>
          </a:p>
        </p:txBody>
      </p:sp>
      <p:grpSp>
        <p:nvGrpSpPr>
          <p:cNvPr name="Group 15" id="15"/>
          <p:cNvGrpSpPr/>
          <p:nvPr/>
        </p:nvGrpSpPr>
        <p:grpSpPr>
          <a:xfrm rot="0">
            <a:off x="422394" y="3436220"/>
            <a:ext cx="976914" cy="97691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384627" y="3741859"/>
            <a:ext cx="976914" cy="422787"/>
          </a:xfrm>
          <a:prstGeom prst="rect">
            <a:avLst/>
          </a:prstGeom>
        </p:spPr>
        <p:txBody>
          <a:bodyPr anchor="t" rtlCol="false" tIns="0" lIns="0" bIns="0" rIns="0">
            <a:spAutoFit/>
          </a:bodyPr>
          <a:lstStyle/>
          <a:p>
            <a:pPr algn="ctr">
              <a:lnSpc>
                <a:spcPts val="3145"/>
              </a:lnSpc>
            </a:pPr>
            <a:r>
              <a:rPr lang="en-US" b="true" sz="3145">
                <a:solidFill>
                  <a:srgbClr val="FCFEFD"/>
                </a:solidFill>
                <a:latin typeface="Inter Ultra-Bold"/>
                <a:ea typeface="Inter Ultra-Bold"/>
                <a:cs typeface="Inter Ultra-Bold"/>
                <a:sym typeface="Inter Ultra-Bold"/>
              </a:rPr>
              <a:t>01</a:t>
            </a:r>
          </a:p>
        </p:txBody>
      </p:sp>
      <p:sp>
        <p:nvSpPr>
          <p:cNvPr name="TextBox 19" id="19"/>
          <p:cNvSpPr txBox="true"/>
          <p:nvPr/>
        </p:nvSpPr>
        <p:spPr>
          <a:xfrm rot="0">
            <a:off x="1992239" y="3302604"/>
            <a:ext cx="14782059" cy="2079625"/>
          </a:xfrm>
          <a:prstGeom prst="rect">
            <a:avLst/>
          </a:prstGeom>
        </p:spPr>
        <p:txBody>
          <a:bodyPr anchor="t" rtlCol="false" tIns="0" lIns="0" bIns="0" rIns="0">
            <a:spAutoFit/>
          </a:bodyPr>
          <a:lstStyle/>
          <a:p>
            <a:pPr algn="l">
              <a:lnSpc>
                <a:spcPts val="5599"/>
              </a:lnSpc>
              <a:spcBef>
                <a:spcPct val="0"/>
              </a:spcBef>
            </a:pPr>
            <a:r>
              <a:rPr lang="en-US" sz="3999">
                <a:solidFill>
                  <a:srgbClr val="FCFEFD"/>
                </a:solidFill>
                <a:latin typeface="Sukar"/>
                <a:ea typeface="Sukar"/>
                <a:cs typeface="Sukar"/>
                <a:sym typeface="Sukar"/>
              </a:rPr>
              <a:t>Sistem ini dirancang untuk mengatasi kendala yang terjadi pada sistem manual, seperti kesalahan pencatatan, kesulitan pencarian data, dan lambatnya pelaporan nilai.</a:t>
            </a:r>
          </a:p>
        </p:txBody>
      </p:sp>
      <p:grpSp>
        <p:nvGrpSpPr>
          <p:cNvPr name="Group 20" id="20"/>
          <p:cNvGrpSpPr/>
          <p:nvPr/>
        </p:nvGrpSpPr>
        <p:grpSpPr>
          <a:xfrm rot="0">
            <a:off x="941033" y="6299933"/>
            <a:ext cx="976914" cy="968394"/>
            <a:chOff x="0" y="0"/>
            <a:chExt cx="812800" cy="805711"/>
          </a:xfrm>
        </p:grpSpPr>
        <p:sp>
          <p:nvSpPr>
            <p:cNvPr name="Freeform 21" id="21"/>
            <p:cNvSpPr/>
            <p:nvPr/>
          </p:nvSpPr>
          <p:spPr>
            <a:xfrm flipH="false" flipV="false" rot="0">
              <a:off x="0" y="0"/>
              <a:ext cx="812800" cy="805711"/>
            </a:xfrm>
            <a:custGeom>
              <a:avLst/>
              <a:gdLst/>
              <a:ahLst/>
              <a:cxnLst/>
              <a:rect r="r" b="b" t="t" l="l"/>
              <a:pathLst>
                <a:path h="805711" w="812800">
                  <a:moveTo>
                    <a:pt x="406400" y="0"/>
                  </a:moveTo>
                  <a:cubicBezTo>
                    <a:pt x="181951" y="0"/>
                    <a:pt x="0" y="180365"/>
                    <a:pt x="0" y="402856"/>
                  </a:cubicBezTo>
                  <a:cubicBezTo>
                    <a:pt x="0" y="625347"/>
                    <a:pt x="181951" y="805711"/>
                    <a:pt x="406400" y="805711"/>
                  </a:cubicBezTo>
                  <a:cubicBezTo>
                    <a:pt x="630849" y="805711"/>
                    <a:pt x="812800" y="625347"/>
                    <a:pt x="812800" y="402856"/>
                  </a:cubicBezTo>
                  <a:cubicBezTo>
                    <a:pt x="812800" y="180365"/>
                    <a:pt x="630849" y="0"/>
                    <a:pt x="406400" y="0"/>
                  </a:cubicBezTo>
                  <a:close/>
                </a:path>
              </a:pathLst>
            </a:custGeom>
            <a:solidFill>
              <a:srgbClr val="002C4F"/>
            </a:solidFill>
          </p:spPr>
        </p:sp>
        <p:sp>
          <p:nvSpPr>
            <p:cNvPr name="TextBox 22" id="22"/>
            <p:cNvSpPr txBox="true"/>
            <p:nvPr/>
          </p:nvSpPr>
          <p:spPr>
            <a:xfrm>
              <a:off x="76200" y="37435"/>
              <a:ext cx="660400" cy="69274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41033" y="6622038"/>
            <a:ext cx="976914" cy="422787"/>
          </a:xfrm>
          <a:prstGeom prst="rect">
            <a:avLst/>
          </a:prstGeom>
        </p:spPr>
        <p:txBody>
          <a:bodyPr anchor="t" rtlCol="false" tIns="0" lIns="0" bIns="0" rIns="0">
            <a:spAutoFit/>
          </a:bodyPr>
          <a:lstStyle/>
          <a:p>
            <a:pPr algn="ctr">
              <a:lnSpc>
                <a:spcPts val="3145"/>
              </a:lnSpc>
            </a:pPr>
            <a:r>
              <a:rPr lang="en-US" b="true" sz="3145">
                <a:solidFill>
                  <a:srgbClr val="FCFEFD"/>
                </a:solidFill>
                <a:latin typeface="Inter Ultra-Bold"/>
                <a:ea typeface="Inter Ultra-Bold"/>
                <a:cs typeface="Inter Ultra-Bold"/>
                <a:sym typeface="Inter Ultra-Bold"/>
              </a:rPr>
              <a:t>02</a:t>
            </a:r>
          </a:p>
        </p:txBody>
      </p:sp>
      <p:sp>
        <p:nvSpPr>
          <p:cNvPr name="TextBox 24" id="24"/>
          <p:cNvSpPr txBox="true"/>
          <p:nvPr/>
        </p:nvSpPr>
        <p:spPr>
          <a:xfrm rot="0">
            <a:off x="2220884" y="6084131"/>
            <a:ext cx="16067116" cy="2079625"/>
          </a:xfrm>
          <a:prstGeom prst="rect">
            <a:avLst/>
          </a:prstGeom>
        </p:spPr>
        <p:txBody>
          <a:bodyPr anchor="t" rtlCol="false" tIns="0" lIns="0" bIns="0" rIns="0">
            <a:spAutoFit/>
          </a:bodyPr>
          <a:lstStyle/>
          <a:p>
            <a:pPr algn="l">
              <a:lnSpc>
                <a:spcPts val="5599"/>
              </a:lnSpc>
              <a:spcBef>
                <a:spcPct val="0"/>
              </a:spcBef>
            </a:pPr>
            <a:r>
              <a:rPr lang="en-US" sz="3999">
                <a:solidFill>
                  <a:srgbClr val="FCFEFD"/>
                </a:solidFill>
                <a:latin typeface="Sukar"/>
                <a:ea typeface="Sukar"/>
                <a:cs typeface="Sukar"/>
                <a:sym typeface="Sukar"/>
              </a:rPr>
              <a:t>Antarmuka sistem dirancang dengan tampilan yang sederhana, intuitif, dan mudah dipahami, sehingga memudahkan admin dan guru dalam mengoperasikan sistem.</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73737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0" y="0"/>
            <a:ext cx="19837478" cy="11505737"/>
          </a:xfrm>
          <a:custGeom>
            <a:avLst/>
            <a:gdLst/>
            <a:ahLst/>
            <a:cxnLst/>
            <a:rect r="r" b="b" t="t" l="l"/>
            <a:pathLst>
              <a:path h="11505737" w="19837478">
                <a:moveTo>
                  <a:pt x="0" y="0"/>
                </a:moveTo>
                <a:lnTo>
                  <a:pt x="19837478" y="0"/>
                </a:lnTo>
                <a:lnTo>
                  <a:pt x="19837478" y="11505737"/>
                </a:lnTo>
                <a:lnTo>
                  <a:pt x="0" y="11505737"/>
                </a:lnTo>
                <a:lnTo>
                  <a:pt x="0" y="0"/>
                </a:lnTo>
                <a:close/>
              </a:path>
            </a:pathLst>
          </a:custGeom>
          <a:blipFill>
            <a:blip r:embed="rId2"/>
            <a:stretch>
              <a:fillRect l="0" t="0" r="0" b="0"/>
            </a:stretch>
          </a:blipFill>
        </p:spPr>
      </p:sp>
      <p:sp>
        <p:nvSpPr>
          <p:cNvPr name="Freeform 3" id="3"/>
          <p:cNvSpPr/>
          <p:nvPr/>
        </p:nvSpPr>
        <p:spPr>
          <a:xfrm flipH="true" flipV="false" rot="5400000">
            <a:off x="200544" y="-521496"/>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1580" y="-2280737"/>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true" flipV="false" rot="-5400000">
            <a:off x="13889068" y="5987800"/>
            <a:ext cx="4198388" cy="4820696"/>
          </a:xfrm>
          <a:custGeom>
            <a:avLst/>
            <a:gdLst/>
            <a:ahLst/>
            <a:cxnLst/>
            <a:rect r="r" b="b" t="t" l="l"/>
            <a:pathLst>
              <a:path h="4820696" w="4198388">
                <a:moveTo>
                  <a:pt x="4198388" y="0"/>
                </a:moveTo>
                <a:lnTo>
                  <a:pt x="0" y="0"/>
                </a:lnTo>
                <a:lnTo>
                  <a:pt x="0" y="4820696"/>
                </a:lnTo>
                <a:lnTo>
                  <a:pt x="4198388" y="4820696"/>
                </a:lnTo>
                <a:lnTo>
                  <a:pt x="4198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4418840" y="7843979"/>
            <a:ext cx="4240740" cy="4723759"/>
          </a:xfrm>
          <a:custGeom>
            <a:avLst/>
            <a:gdLst/>
            <a:ahLst/>
            <a:cxnLst/>
            <a:rect r="r" b="b" t="t" l="l"/>
            <a:pathLst>
              <a:path h="4723759" w="4240740">
                <a:moveTo>
                  <a:pt x="0" y="0"/>
                </a:moveTo>
                <a:lnTo>
                  <a:pt x="4240740" y="0"/>
                </a:lnTo>
                <a:lnTo>
                  <a:pt x="4240740" y="4723758"/>
                </a:lnTo>
                <a:lnTo>
                  <a:pt x="0" y="4723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true" flipV="false" rot="-8586571">
            <a:off x="-2791741" y="8811023"/>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2213428">
            <a:off x="13329770" y="-1149071"/>
            <a:ext cx="7749971" cy="2625048"/>
          </a:xfrm>
          <a:custGeom>
            <a:avLst/>
            <a:gdLst/>
            <a:ahLst/>
            <a:cxnLst/>
            <a:rect r="r" b="b" t="t" l="l"/>
            <a:pathLst>
              <a:path h="2625048" w="7749971">
                <a:moveTo>
                  <a:pt x="7749971" y="0"/>
                </a:moveTo>
                <a:lnTo>
                  <a:pt x="0" y="0"/>
                </a:lnTo>
                <a:lnTo>
                  <a:pt x="0" y="2625048"/>
                </a:lnTo>
                <a:lnTo>
                  <a:pt x="7749971" y="2625048"/>
                </a:lnTo>
                <a:lnTo>
                  <a:pt x="774997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832155">
            <a:off x="-2643337" y="5103858"/>
            <a:ext cx="8784254" cy="9013694"/>
          </a:xfrm>
          <a:custGeom>
            <a:avLst/>
            <a:gdLst/>
            <a:ahLst/>
            <a:cxnLst/>
            <a:rect r="r" b="b" t="t" l="l"/>
            <a:pathLst>
              <a:path h="9013694" w="8784254">
                <a:moveTo>
                  <a:pt x="0" y="0"/>
                </a:moveTo>
                <a:lnTo>
                  <a:pt x="8784254" y="0"/>
                </a:lnTo>
                <a:lnTo>
                  <a:pt x="8784254" y="9013694"/>
                </a:lnTo>
                <a:lnTo>
                  <a:pt x="0" y="9013694"/>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5832155">
            <a:off x="12147083" y="-3830552"/>
            <a:ext cx="8784254" cy="9013694"/>
          </a:xfrm>
          <a:custGeom>
            <a:avLst/>
            <a:gdLst/>
            <a:ahLst/>
            <a:cxnLst/>
            <a:rect r="r" b="b" t="t" l="l"/>
            <a:pathLst>
              <a:path h="9013694" w="8784254">
                <a:moveTo>
                  <a:pt x="8784254" y="9013694"/>
                </a:moveTo>
                <a:lnTo>
                  <a:pt x="0" y="9013694"/>
                </a:lnTo>
                <a:lnTo>
                  <a:pt x="0" y="0"/>
                </a:lnTo>
                <a:lnTo>
                  <a:pt x="8784254" y="0"/>
                </a:lnTo>
                <a:lnTo>
                  <a:pt x="8784254" y="9013694"/>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9501" y="163453"/>
            <a:ext cx="9262643" cy="1052603"/>
            <a:chOff x="0" y="0"/>
            <a:chExt cx="12350191" cy="1403471"/>
          </a:xfrm>
        </p:grpSpPr>
        <p:sp>
          <p:nvSpPr>
            <p:cNvPr name="Freeform 12" id="12"/>
            <p:cNvSpPr/>
            <p:nvPr/>
          </p:nvSpPr>
          <p:spPr>
            <a:xfrm flipH="false" flipV="false" rot="0">
              <a:off x="0" y="0"/>
              <a:ext cx="1387877" cy="1403471"/>
            </a:xfrm>
            <a:custGeom>
              <a:avLst/>
              <a:gdLst/>
              <a:ahLst/>
              <a:cxnLst/>
              <a:rect r="r" b="b" t="t" l="l"/>
              <a:pathLst>
                <a:path h="1403471" w="1387877">
                  <a:moveTo>
                    <a:pt x="0" y="0"/>
                  </a:moveTo>
                  <a:lnTo>
                    <a:pt x="1387877" y="0"/>
                  </a:lnTo>
                  <a:lnTo>
                    <a:pt x="1387877" y="1403471"/>
                  </a:lnTo>
                  <a:lnTo>
                    <a:pt x="0" y="1403471"/>
                  </a:lnTo>
                  <a:lnTo>
                    <a:pt x="0" y="0"/>
                  </a:lnTo>
                  <a:close/>
                </a:path>
              </a:pathLst>
            </a:custGeom>
            <a:blipFill>
              <a:blip r:embed="rId11"/>
              <a:stretch>
                <a:fillRect l="0" t="0" r="0" b="0"/>
              </a:stretch>
            </a:blipFill>
          </p:spPr>
        </p:sp>
        <p:sp>
          <p:nvSpPr>
            <p:cNvPr name="TextBox 13" id="13"/>
            <p:cNvSpPr txBox="true"/>
            <p:nvPr/>
          </p:nvSpPr>
          <p:spPr>
            <a:xfrm rot="0">
              <a:off x="1540277" y="425447"/>
              <a:ext cx="10809914" cy="595545"/>
            </a:xfrm>
            <a:prstGeom prst="rect">
              <a:avLst/>
            </a:prstGeom>
          </p:spPr>
          <p:txBody>
            <a:bodyPr anchor="t" rtlCol="false" tIns="0" lIns="0" bIns="0" rIns="0">
              <a:spAutoFit/>
            </a:bodyPr>
            <a:lstStyle/>
            <a:p>
              <a:pPr algn="l">
                <a:lnSpc>
                  <a:spcPts val="3418"/>
                </a:lnSpc>
              </a:pPr>
              <a:r>
                <a:rPr lang="en-US" sz="3107" b="true">
                  <a:solidFill>
                    <a:srgbClr val="FCFEFD"/>
                  </a:solidFill>
                  <a:latin typeface="Sukar Heavy"/>
                  <a:ea typeface="Sukar Heavy"/>
                  <a:cs typeface="Sukar Heavy"/>
                  <a:sym typeface="Sukar Heavy"/>
                </a:rPr>
                <a:t>UNIVERSITAS LANCANG KUNING</a:t>
              </a:r>
            </a:p>
          </p:txBody>
        </p:sp>
      </p:grpSp>
      <p:sp>
        <p:nvSpPr>
          <p:cNvPr name="TextBox 14" id="14"/>
          <p:cNvSpPr txBox="true"/>
          <p:nvPr/>
        </p:nvSpPr>
        <p:spPr>
          <a:xfrm rot="0">
            <a:off x="5796552" y="4840576"/>
            <a:ext cx="7191186" cy="1026117"/>
          </a:xfrm>
          <a:prstGeom prst="rect">
            <a:avLst/>
          </a:prstGeom>
        </p:spPr>
        <p:txBody>
          <a:bodyPr anchor="t" rtlCol="false" tIns="0" lIns="0" bIns="0" rIns="0">
            <a:spAutoFit/>
          </a:bodyPr>
          <a:lstStyle/>
          <a:p>
            <a:pPr algn="l">
              <a:lnSpc>
                <a:spcPts val="7773"/>
              </a:lnSpc>
            </a:pPr>
            <a:r>
              <a:rPr lang="en-US" sz="7773" b="true">
                <a:solidFill>
                  <a:srgbClr val="F5AB0B"/>
                </a:solidFill>
                <a:latin typeface="Inter Bold"/>
                <a:ea typeface="Inter Bold"/>
                <a:cs typeface="Inter Bold"/>
                <a:sym typeface="Inter Bold"/>
              </a:rPr>
              <a:t>TERIMA </a:t>
            </a:r>
            <a:r>
              <a:rPr lang="en-US" sz="7773" b="true">
                <a:solidFill>
                  <a:srgbClr val="002C4F"/>
                </a:solidFill>
                <a:latin typeface="Inter Bold"/>
                <a:ea typeface="Inter Bold"/>
                <a:cs typeface="Inter Bold"/>
                <a:sym typeface="Inter Bold"/>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DAGsKZ_ZzSc</dc:identifier>
  <dcterms:modified xsi:type="dcterms:W3CDTF">2011-08-01T06:04:30Z</dcterms:modified>
  <cp:revision>1</cp:revision>
  <dc:title>Biru Kuning Putih Modern Sidang Skripsi Presentasi</dc:title>
</cp:coreProperties>
</file>